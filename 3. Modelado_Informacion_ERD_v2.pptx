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8" r:id="rId7"/>
    <p:sldId id="262" r:id="rId8"/>
    <p:sldId id="261" r:id="rId9"/>
    <p:sldId id="264" r:id="rId10"/>
    <p:sldId id="267" r:id="rId11"/>
    <p:sldId id="260" r:id="rId12"/>
    <p:sldId id="271" r:id="rId13"/>
    <p:sldId id="272" r:id="rId14"/>
    <p:sldId id="270" r:id="rId15"/>
    <p:sldId id="281" r:id="rId29"/>
    <p:sldId id="282" r:id="rId30"/>
    <p:sldId id="283" r:id="rId31"/>
    <p:sldId id="284" r:id="rId32"/>
    <p:sldId id="285" r:id="rId33"/>
    <p:sldId id="273" r:id="rId16"/>
    <p:sldId id="275" r:id="rId17"/>
    <p:sldId id="276" r:id="rId18"/>
    <p:sldId id="278" r:id="rId19"/>
    <p:sldId id="279" r:id="rId20"/>
    <p:sldId id="277" r:id="rId21"/>
    <p:sldId id="280" r:id="rId22"/>
  </p:sldIdLst>
  <p:sldSz cx="18288000" cy="10287000"/>
  <p:notesSz cx="6858000" cy="9144000"/>
  <p:embeddedFontLst>
    <p:embeddedFont>
      <p:font typeface="HK Grotesk Bold" panose="020B0604020202020204" charset="0"/>
      <p:regular r:id="rId23"/>
    </p:embeddedFont>
    <p:embeddedFont>
      <p:font typeface="HK Grotesk Light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50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erd_step1.png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erd_step2.png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erd_step3.png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erd_step4.png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14912">
            <a:off x="-1534103" y="1801518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6" y="0"/>
                </a:lnTo>
                <a:lnTo>
                  <a:pt x="21356206" y="6874464"/>
                </a:lnTo>
                <a:lnTo>
                  <a:pt x="0" y="687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1028700" y="1100137"/>
            <a:ext cx="13068300" cy="4434245"/>
            <a:chOff x="0" y="95249"/>
            <a:chExt cx="17424401" cy="5912327"/>
          </a:xfrm>
        </p:grpSpPr>
        <p:sp>
          <p:nvSpPr>
            <p:cNvPr id="4" name="TextBox 4"/>
            <p:cNvSpPr txBox="1"/>
            <p:nvPr/>
          </p:nvSpPr>
          <p:spPr>
            <a:xfrm>
              <a:off x="0" y="95249"/>
              <a:ext cx="17424401" cy="45921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263"/>
                </a:lnSpc>
              </a:pPr>
              <a:r>
                <a:rPr lang="es-MX" sz="8800" b="1" spc="-358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Modelado de Información y Entidades</a:t>
              </a:r>
              <a:endParaRPr lang="en-US" sz="8800" b="1" spc="-358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766381"/>
              <a:ext cx="7714532" cy="124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1"/>
                </a:lnSpc>
              </a:pPr>
              <a:r>
                <a:rPr lang="es-MX" sz="3199" dirty="0">
                  <a:solidFill>
                    <a:srgbClr val="57FF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Curso Arquitectura Empresarial</a:t>
              </a:r>
            </a:p>
            <a:p>
              <a:pPr algn="l">
                <a:lnSpc>
                  <a:spcPts val="3551"/>
                </a:lnSpc>
              </a:pPr>
              <a:r>
                <a:rPr lang="es-MX" sz="3199" dirty="0">
                  <a:solidFill>
                    <a:srgbClr val="57FF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Universidad de La Sabana</a:t>
              </a:r>
              <a:endParaRPr lang="en-US" sz="3199" dirty="0">
                <a:solidFill>
                  <a:srgbClr val="57FFDC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30652" y="7061766"/>
            <a:ext cx="1928648" cy="2074442"/>
            <a:chOff x="0" y="0"/>
            <a:chExt cx="2571531" cy="2765923"/>
          </a:xfrm>
        </p:grpSpPr>
        <p:sp>
          <p:nvSpPr>
            <p:cNvPr id="7" name="AutoShape 7"/>
            <p:cNvSpPr/>
            <p:nvPr/>
          </p:nvSpPr>
          <p:spPr>
            <a:xfrm>
              <a:off x="2508031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10295"/>
              <a:ext cx="2571531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01</a:t>
              </a:r>
            </a:p>
          </p:txBody>
        </p:sp>
      </p:grpSp>
      <p:pic>
        <p:nvPicPr>
          <p:cNvPr id="9" name="Imagen 8" descr="Imagen que contiene dibujo&#10;&#10;Descripción generada automáticamente">
            <a:extLst>
              <a:ext uri="{FF2B5EF4-FFF2-40B4-BE49-F238E27FC236}">
                <a16:creationId xmlns:a16="http://schemas.microsoft.com/office/drawing/2014/main" id="{46283DCC-9001-53FC-637D-7EE492922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500" y="8387497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401603">
            <a:off x="5328173" y="-816435"/>
            <a:ext cx="18528255" cy="5642970"/>
          </a:xfrm>
          <a:custGeom>
            <a:avLst/>
            <a:gdLst/>
            <a:ahLst/>
            <a:cxnLst/>
            <a:rect l="l" t="t" r="r" b="b"/>
            <a:pathLst>
              <a:path w="18528255" h="5642970">
                <a:moveTo>
                  <a:pt x="0" y="0"/>
                </a:moveTo>
                <a:lnTo>
                  <a:pt x="18528254" y="0"/>
                </a:lnTo>
                <a:lnTo>
                  <a:pt x="18528254" y="5642970"/>
                </a:lnTo>
                <a:lnTo>
                  <a:pt x="0" y="5642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056816" y="1000609"/>
            <a:ext cx="7202484" cy="7220470"/>
            <a:chOff x="0" y="0"/>
            <a:chExt cx="5594350" cy="5608320"/>
          </a:xfrm>
        </p:grpSpPr>
        <p:sp>
          <p:nvSpPr>
            <p:cNvPr id="4" name="Freeform 4"/>
            <p:cNvSpPr/>
            <p:nvPr/>
          </p:nvSpPr>
          <p:spPr>
            <a:xfrm>
              <a:off x="-80010" y="-191771"/>
              <a:ext cx="6264910" cy="5977891"/>
            </a:xfrm>
            <a:custGeom>
              <a:avLst/>
              <a:gdLst/>
              <a:ahLst/>
              <a:cxnLst/>
              <a:rect l="l" t="t" r="r" b="b"/>
              <a:pathLst>
                <a:path w="6264910" h="5977891">
                  <a:moveTo>
                    <a:pt x="3576320" y="342901"/>
                  </a:moveTo>
                  <a:cubicBezTo>
                    <a:pt x="4768850" y="509271"/>
                    <a:pt x="6264910" y="971551"/>
                    <a:pt x="5435600" y="3060701"/>
                  </a:cubicBezTo>
                  <a:cubicBezTo>
                    <a:pt x="4606290" y="5149851"/>
                    <a:pt x="2889250" y="5520691"/>
                    <a:pt x="2059940" y="5749291"/>
                  </a:cubicBezTo>
                  <a:cubicBezTo>
                    <a:pt x="1230630" y="5977891"/>
                    <a:pt x="256540" y="5434331"/>
                    <a:pt x="600710" y="4203701"/>
                  </a:cubicBezTo>
                  <a:cubicBezTo>
                    <a:pt x="901700" y="3126740"/>
                    <a:pt x="0" y="1772921"/>
                    <a:pt x="86360" y="886460"/>
                  </a:cubicBezTo>
                  <a:cubicBezTo>
                    <a:pt x="172720" y="0"/>
                    <a:pt x="2145030" y="142240"/>
                    <a:pt x="3576320" y="342900"/>
                  </a:cubicBezTo>
                  <a:close/>
                </a:path>
              </a:pathLst>
            </a:custGeom>
            <a:blipFill>
              <a:blip r:embed="rId4"/>
              <a:stretch>
                <a:fillRect l="-102989" t="-12295" r="-31248" b="-43684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078706"/>
            <a:ext cx="8115300" cy="116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Objetivo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27664" y="5957697"/>
            <a:ext cx="7122699" cy="126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s-MX" sz="2514" spc="-5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Comprender cómo estructurar y representar la información de una organización mediante modelos entidad-relación (ERD) y flujos de datos.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84960" y="7183858"/>
            <a:ext cx="616957" cy="2074442"/>
            <a:chOff x="0" y="0"/>
            <a:chExt cx="822610" cy="2765923"/>
          </a:xfrm>
        </p:grpSpPr>
        <p:sp>
          <p:nvSpPr>
            <p:cNvPr id="15" name="AutoShape 15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02</a:t>
              </a:r>
            </a:p>
          </p:txBody>
        </p:sp>
      </p:grpSp>
      <p:sp>
        <p:nvSpPr>
          <p:cNvPr id="17" name="TextBox 8">
            <a:extLst>
              <a:ext uri="{FF2B5EF4-FFF2-40B4-BE49-F238E27FC236}">
                <a16:creationId xmlns:a16="http://schemas.microsoft.com/office/drawing/2014/main" id="{F1E8763A-0FB4-C5B5-F22C-35A69A176F2A}"/>
              </a:ext>
            </a:extLst>
          </p:cNvPr>
          <p:cNvSpPr txBox="1"/>
          <p:nvPr/>
        </p:nvSpPr>
        <p:spPr>
          <a:xfrm>
            <a:off x="2262300" y="8921341"/>
            <a:ext cx="5586300" cy="35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s-MX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¿Por qué modelar la información?</a:t>
            </a:r>
            <a:endParaRPr lang="en-US" sz="2399" b="1" dirty="0">
              <a:solidFill>
                <a:srgbClr val="57FFD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4217" y="318883"/>
            <a:ext cx="19036434" cy="6437888"/>
          </a:xfrm>
          <a:custGeom>
            <a:avLst/>
            <a:gdLst/>
            <a:ahLst/>
            <a:cxnLst/>
            <a:rect l="l" t="t" r="r" b="b"/>
            <a:pathLst>
              <a:path w="19036434" h="6437888">
                <a:moveTo>
                  <a:pt x="0" y="0"/>
                </a:moveTo>
                <a:lnTo>
                  <a:pt x="19036434" y="0"/>
                </a:lnTo>
                <a:lnTo>
                  <a:pt x="19036434" y="6437888"/>
                </a:lnTo>
                <a:lnTo>
                  <a:pt x="0" y="6437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/>
          <p:cNvSpPr txBox="1"/>
          <p:nvPr/>
        </p:nvSpPr>
        <p:spPr>
          <a:xfrm>
            <a:off x="1619250" y="1028700"/>
            <a:ext cx="15049500" cy="1163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¿Qué es ERD?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628900" y="7277100"/>
            <a:ext cx="13030200" cy="1481090"/>
            <a:chOff x="0" y="-28575"/>
            <a:chExt cx="6387855" cy="1974787"/>
          </a:xfrm>
        </p:grpSpPr>
        <p:sp>
          <p:nvSpPr>
            <p:cNvPr id="5" name="TextBox 5"/>
            <p:cNvSpPr txBox="1"/>
            <p:nvPr/>
          </p:nvSpPr>
          <p:spPr>
            <a:xfrm>
              <a:off x="0" y="-28575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Entity–Relationship Diagram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63949"/>
              <a:ext cx="6387855" cy="1082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64"/>
                </a:lnSpc>
              </a:pPr>
              <a:r>
                <a:rPr lang="es-MX" sz="2434" spc="-4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 ERD (Diagrama Entidad–Relación) es una representación gráfica que muestra </a:t>
              </a:r>
              <a:r>
                <a:rPr lang="es-MX" sz="2434" b="1" spc="-4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cómo se organizan y se relacionan los datos </a:t>
              </a:r>
              <a:r>
                <a:rPr lang="es-MX" sz="2434" spc="-4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dentro de un sistema o dominio de negocio.</a:t>
              </a:r>
            </a:p>
          </p:txBody>
        </p:sp>
      </p:grpSp>
      <p:grpSp>
        <p:nvGrpSpPr>
          <p:cNvPr id="9001" name="Group PageNum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9002" name="AutoShape PageNum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003" name="TextBox PageNum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375"/>
            <a:ext cx="6819900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Mapa visual de: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3699219"/>
            <a:ext cx="7304569" cy="6092481"/>
            <a:chOff x="0" y="-2563"/>
            <a:chExt cx="8216655" cy="7460097"/>
          </a:xfrm>
        </p:grpSpPr>
        <p:sp>
          <p:nvSpPr>
            <p:cNvPr id="4" name="TextBox 4"/>
            <p:cNvSpPr txBox="1"/>
            <p:nvPr/>
          </p:nvSpPr>
          <p:spPr>
            <a:xfrm>
              <a:off x="0" y="-2563"/>
              <a:ext cx="82166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Entidades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17344"/>
              <a:ext cx="8216655" cy="1936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cosas o conceptos relevantes del dominio (por ejemplo: Paciente, Pedido, Producto).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624194"/>
              <a:ext cx="82166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Atributos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544100"/>
              <a:ext cx="8216655" cy="1936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características que describen a cada entidad (por ejemplo: nombre, fecha, precio).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250952"/>
              <a:ext cx="82166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Relaciones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170857"/>
              <a:ext cx="8216655" cy="1286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vínculos entre entidades (por ejemplo: “Un Cliente realiza Pedidos”).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2" name="AutoShape 12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04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rot="1461512" flipV="1">
            <a:off x="8601563" y="92778"/>
            <a:ext cx="14662108" cy="4465495"/>
          </a:xfrm>
          <a:custGeom>
            <a:avLst/>
            <a:gdLst/>
            <a:ahLst/>
            <a:cxnLst/>
            <a:rect l="l" t="t" r="r" b="b"/>
            <a:pathLst>
              <a:path w="14662108" h="4465495">
                <a:moveTo>
                  <a:pt x="0" y="4465495"/>
                </a:moveTo>
                <a:lnTo>
                  <a:pt x="14662108" y="4465495"/>
                </a:lnTo>
                <a:lnTo>
                  <a:pt x="14662108" y="0"/>
                </a:lnTo>
                <a:lnTo>
                  <a:pt x="0" y="0"/>
                </a:lnTo>
                <a:lnTo>
                  <a:pt x="0" y="44654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8904999" y="1028700"/>
            <a:ext cx="8111740" cy="7085920"/>
            <a:chOff x="0" y="0"/>
            <a:chExt cx="5975350" cy="5219700"/>
          </a:xfrm>
        </p:grpSpPr>
        <p:sp>
          <p:nvSpPr>
            <p:cNvPr id="16" name="Freeform 16"/>
            <p:cNvSpPr/>
            <p:nvPr/>
          </p:nvSpPr>
          <p:spPr>
            <a:xfrm>
              <a:off x="-519430" y="-910590"/>
              <a:ext cx="7381240" cy="6188710"/>
            </a:xfrm>
            <a:custGeom>
              <a:avLst/>
              <a:gdLst/>
              <a:ahLst/>
              <a:cxnLst/>
              <a:rect l="l" t="t" r="r" b="b"/>
              <a:pathLst>
                <a:path w="7381240" h="6188710">
                  <a:moveTo>
                    <a:pt x="2861310" y="5034280"/>
                  </a:moveTo>
                  <a:cubicBezTo>
                    <a:pt x="4353560" y="5034280"/>
                    <a:pt x="3549650" y="6188710"/>
                    <a:pt x="5092700" y="6121400"/>
                  </a:cubicBezTo>
                  <a:cubicBezTo>
                    <a:pt x="6408420" y="6064250"/>
                    <a:pt x="7381240" y="3489960"/>
                    <a:pt x="5207000" y="2288540"/>
                  </a:cubicBezTo>
                  <a:cubicBezTo>
                    <a:pt x="3470910" y="1328420"/>
                    <a:pt x="629920" y="0"/>
                    <a:pt x="1029970" y="1830070"/>
                  </a:cubicBezTo>
                  <a:cubicBezTo>
                    <a:pt x="1430020" y="3660140"/>
                    <a:pt x="0" y="4232910"/>
                    <a:pt x="744220" y="5205730"/>
                  </a:cubicBezTo>
                  <a:cubicBezTo>
                    <a:pt x="1488440" y="6178550"/>
                    <a:pt x="1544320" y="5034280"/>
                    <a:pt x="2861310" y="5034280"/>
                  </a:cubicBezTo>
                  <a:close/>
                </a:path>
              </a:pathLst>
            </a:cu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419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84960" y="7183858"/>
            <a:ext cx="47625" cy="1325731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 rot="-792178">
            <a:off x="-3184334" y="-1644671"/>
            <a:ext cx="11135343" cy="3391383"/>
          </a:xfrm>
          <a:custGeom>
            <a:avLst/>
            <a:gdLst/>
            <a:ahLst/>
            <a:cxnLst/>
            <a:rect l="l" t="t" r="r" b="b"/>
            <a:pathLst>
              <a:path w="11135343" h="3391383">
                <a:moveTo>
                  <a:pt x="0" y="0"/>
                </a:moveTo>
                <a:lnTo>
                  <a:pt x="11135343" y="0"/>
                </a:lnTo>
                <a:lnTo>
                  <a:pt x="11135343" y="3391383"/>
                </a:lnTo>
                <a:lnTo>
                  <a:pt x="0" y="339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AutoShape 4"/>
          <p:cNvSpPr/>
          <p:nvPr/>
        </p:nvSpPr>
        <p:spPr>
          <a:xfrm>
            <a:off x="8138756" y="1028700"/>
            <a:ext cx="52381" cy="8229600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5" name="TextBox 5"/>
          <p:cNvSpPr txBox="1"/>
          <p:nvPr/>
        </p:nvSpPr>
        <p:spPr>
          <a:xfrm>
            <a:off x="984960" y="2914036"/>
            <a:ext cx="5910916" cy="230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Objetivos de un ERD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44000" y="1951723"/>
            <a:ext cx="8115300" cy="1063095"/>
            <a:chOff x="0" y="-15569"/>
            <a:chExt cx="10820400" cy="1417460"/>
          </a:xfrm>
        </p:grpSpPr>
        <p:sp>
          <p:nvSpPr>
            <p:cNvPr id="7" name="TextBox 7"/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Clarificar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Qué información maneja una organización.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3728083"/>
            <a:ext cx="8115300" cy="1063096"/>
            <a:chOff x="0" y="-15569"/>
            <a:chExt cx="10820400" cy="14174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Definir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Las reglas de negocio que afectan los datos (cardinalidad, participación).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5504444"/>
            <a:ext cx="8115300" cy="1063096"/>
            <a:chOff x="0" y="-15569"/>
            <a:chExt cx="10820400" cy="14174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Servir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de base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Para el diseño de bases de datos relacionales.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7280804"/>
            <a:ext cx="8115300" cy="1063096"/>
            <a:chOff x="0" y="-15569"/>
            <a:chExt cx="10820400" cy="141746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Facilitar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 comunicación entre analistas, arquitectos, desarrolladores y clientes.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4960" y="8921341"/>
            <a:ext cx="616957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7979987" y="2326388"/>
            <a:ext cx="369918" cy="369918"/>
            <a:chOff x="6705600" y="1371600"/>
            <a:chExt cx="10972800" cy="10972800"/>
          </a:xfrm>
        </p:grpSpPr>
        <p:sp>
          <p:nvSpPr>
            <p:cNvPr id="24" name="Freeform 24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7979987" y="4102748"/>
            <a:ext cx="369918" cy="369918"/>
            <a:chOff x="6705600" y="1371600"/>
            <a:chExt cx="10972800" cy="10972800"/>
          </a:xfrm>
        </p:grpSpPr>
        <p:sp>
          <p:nvSpPr>
            <p:cNvPr id="26" name="Freeform 26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7979987" y="5879109"/>
            <a:ext cx="369918" cy="369918"/>
            <a:chOff x="6705600" y="1371600"/>
            <a:chExt cx="10972800" cy="10972800"/>
          </a:xfrm>
        </p:grpSpPr>
        <p:sp>
          <p:nvSpPr>
            <p:cNvPr id="28" name="Freeform 28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7979987" y="7655469"/>
            <a:ext cx="369918" cy="369918"/>
            <a:chOff x="6705600" y="1371600"/>
            <a:chExt cx="10972800" cy="10972800"/>
          </a:xfrm>
        </p:grpSpPr>
        <p:sp>
          <p:nvSpPr>
            <p:cNvPr id="30" name="Freeform 30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7448">
            <a:off x="-1098363" y="1795822"/>
            <a:ext cx="20799788" cy="6695357"/>
          </a:xfrm>
          <a:custGeom>
            <a:avLst/>
            <a:gdLst/>
            <a:ahLst/>
            <a:cxnLst/>
            <a:rect l="l" t="t" r="r" b="b"/>
            <a:pathLst>
              <a:path w="20799788" h="6695357">
                <a:moveTo>
                  <a:pt x="0" y="0"/>
                </a:moveTo>
                <a:lnTo>
                  <a:pt x="20799788" y="0"/>
                </a:lnTo>
                <a:lnTo>
                  <a:pt x="20799788" y="6695356"/>
                </a:lnTo>
                <a:lnTo>
                  <a:pt x="0" y="669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TextBox 5"/>
          <p:cNvSpPr txBox="1"/>
          <p:nvPr/>
        </p:nvSpPr>
        <p:spPr>
          <a:xfrm>
            <a:off x="1028700" y="935288"/>
            <a:ext cx="5910916" cy="72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9"/>
              </a:lnSpc>
            </a:pPr>
            <a:r>
              <a:rPr lang="en-US" sz="5089" b="1" spc="-152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Demostración</a:t>
            </a:r>
            <a:endParaRPr lang="en-US" sz="5089" b="1" spc="-152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467708" y="2562884"/>
            <a:ext cx="5910916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8"/>
              </a:lnSpc>
            </a:pPr>
            <a:r>
              <a:rPr lang="es-MX" sz="2029" spc="-40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¿Qué representa el diagrama?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8" name="AutoShape 8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06</a:t>
              </a:r>
            </a:p>
          </p:txBody>
        </p:sp>
      </p:grpSp>
      <p:pic>
        <p:nvPicPr>
          <p:cNvPr id="1026" name="Picture 2" descr="What Is an ERD in Database Design? | Vertabelo Database Modeler">
            <a:extLst>
              <a:ext uri="{FF2B5EF4-FFF2-40B4-BE49-F238E27FC236}">
                <a16:creationId xmlns:a16="http://schemas.microsoft.com/office/drawing/2014/main" id="{94C31752-D827-3186-6E58-9745216E8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687" y="3309900"/>
            <a:ext cx="11402626" cy="641994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436445">
            <a:off x="3821047" y="208766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5" y="0"/>
                </a:lnTo>
                <a:lnTo>
                  <a:pt x="21356205" y="6874465"/>
                </a:lnTo>
                <a:lnTo>
                  <a:pt x="0" y="687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/>
          <p:cNvGrpSpPr/>
          <p:nvPr/>
        </p:nvGrpSpPr>
        <p:grpSpPr>
          <a:xfrm>
            <a:off x="1028700" y="1123478"/>
            <a:ext cx="11620500" cy="4587538"/>
            <a:chOff x="0" y="66675"/>
            <a:chExt cx="7881221" cy="6116717"/>
          </a:xfrm>
        </p:grpSpPr>
        <p:sp>
          <p:nvSpPr>
            <p:cNvPr id="6" name="TextBox 6"/>
            <p:cNvSpPr txBox="1"/>
            <p:nvPr/>
          </p:nvSpPr>
          <p:spPr>
            <a:xfrm>
              <a:off x="0" y="66675"/>
              <a:ext cx="7881221" cy="6116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Entidad-Relación</a:t>
              </a:r>
              <a:endParaRPr lang="en-US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  <a:p>
              <a:pPr algn="l">
                <a:lnSpc>
                  <a:spcPts val="8879"/>
                </a:lnSpc>
              </a:pPr>
              <a:endParaRPr lang="en-US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96830"/>
              <a:ext cx="7881221" cy="1286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 modelo de datos entidad-relación está basado en una percepción del mundo real que consta de una colección de objetos básicos.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4064" y="5010915"/>
            <a:ext cx="4133850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</a:t>
            </a:r>
            <a:r>
              <a:rPr lang="en-US" sz="2399" b="1" dirty="0" err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Qué</a:t>
            </a:r>
            <a:r>
              <a:rPr lang="en-US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2399" b="1" dirty="0" err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significa</a:t>
            </a:r>
            <a:r>
              <a:rPr lang="en-US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2399" b="1" dirty="0" err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esto</a:t>
            </a:r>
            <a:r>
              <a:rPr lang="en-US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07</a:t>
              </a:r>
            </a:p>
          </p:txBody>
        </p:sp>
      </p:grpSp>
      <p:pic>
        <p:nvPicPr>
          <p:cNvPr id="4104" name="Picture 8" descr="2.1. INTRODUCCIÓN — Gestión de Bases de Datos">
            <a:extLst>
              <a:ext uri="{FF2B5EF4-FFF2-40B4-BE49-F238E27FC236}">
                <a16:creationId xmlns:a16="http://schemas.microsoft.com/office/drawing/2014/main" id="{0DBFDE88-7AF8-2265-4408-4DA31B710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5668241"/>
            <a:ext cx="13892302" cy="36004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71563"/>
            <a:ext cx="11925300" cy="1084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51"/>
              </a:lnSpc>
            </a:pPr>
            <a:r>
              <a:rPr lang="en-US" sz="7434" b="1" spc="-223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Entidades</a:t>
            </a:r>
            <a:endParaRPr lang="en-US" sz="7434" b="1" spc="-223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5" name="Freeform 5"/>
          <p:cNvSpPr/>
          <p:nvPr/>
        </p:nvSpPr>
        <p:spPr>
          <a:xfrm rot="-231817" flipH="1">
            <a:off x="-2041502" y="520691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3"/>
                </a:lnTo>
                <a:lnTo>
                  <a:pt x="21853999" y="7390753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7" name="Group 7"/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8" name="AutoShape 8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08</a:t>
              </a:r>
            </a:p>
          </p:txBody>
        </p:sp>
      </p:grpSp>
      <p:grpSp>
        <p:nvGrpSpPr>
          <p:cNvPr id="30" name="Group 4">
            <a:extLst>
              <a:ext uri="{FF2B5EF4-FFF2-40B4-BE49-F238E27FC236}">
                <a16:creationId xmlns:a16="http://schemas.microsoft.com/office/drawing/2014/main" id="{12944DBD-75B8-CFFC-C84B-1E427440E71C}"/>
              </a:ext>
            </a:extLst>
          </p:cNvPr>
          <p:cNvGrpSpPr/>
          <p:nvPr/>
        </p:nvGrpSpPr>
        <p:grpSpPr>
          <a:xfrm>
            <a:off x="3687627" y="2882002"/>
            <a:ext cx="4790891" cy="3096339"/>
            <a:chOff x="0" y="-15569"/>
            <a:chExt cx="6387855" cy="4128455"/>
          </a:xfrm>
        </p:grpSpPr>
        <p:sp>
          <p:nvSpPr>
            <p:cNvPr id="31" name="TextBox 5">
              <a:extLst>
                <a:ext uri="{FF2B5EF4-FFF2-40B4-BE49-F238E27FC236}">
                  <a16:creationId xmlns:a16="http://schemas.microsoft.com/office/drawing/2014/main" id="{B54A0776-C1AA-483B-115B-34FAD9CC6059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Entidad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rectángulo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simple)</a:t>
              </a:r>
            </a:p>
          </p:txBody>
        </p:sp>
        <p:sp>
          <p:nvSpPr>
            <p:cNvPr id="32" name="TextBox 6">
              <a:extLst>
                <a:ext uri="{FF2B5EF4-FFF2-40B4-BE49-F238E27FC236}">
                  <a16:creationId xmlns:a16="http://schemas.microsoft.com/office/drawing/2014/main" id="{2A6C5FD9-CF89-F0FB-FC3F-5AF1488806D5}"/>
                </a:ext>
              </a:extLst>
            </p:cNvPr>
            <p:cNvSpPr txBox="1"/>
            <p:nvPr/>
          </p:nvSpPr>
          <p:spPr>
            <a:xfrm>
              <a:off x="0" y="876956"/>
              <a:ext cx="6387855" cy="3235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Representa un objeto o concepto del dominio que se quiere modelar 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Paciente, Producto.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33" name="Group 7">
            <a:extLst>
              <a:ext uri="{FF2B5EF4-FFF2-40B4-BE49-F238E27FC236}">
                <a16:creationId xmlns:a16="http://schemas.microsoft.com/office/drawing/2014/main" id="{83943DC0-3FC0-2C5D-EDE7-5F828A8CED2D}"/>
              </a:ext>
            </a:extLst>
          </p:cNvPr>
          <p:cNvGrpSpPr/>
          <p:nvPr/>
        </p:nvGrpSpPr>
        <p:grpSpPr>
          <a:xfrm>
            <a:off x="11963400" y="2882002"/>
            <a:ext cx="4790892" cy="4522995"/>
            <a:chOff x="-1" y="-15569"/>
            <a:chExt cx="6387856" cy="6030664"/>
          </a:xfrm>
        </p:grpSpPr>
        <p:sp>
          <p:nvSpPr>
            <p:cNvPr id="34" name="TextBox 8">
              <a:extLst>
                <a:ext uri="{FF2B5EF4-FFF2-40B4-BE49-F238E27FC236}">
                  <a16:creationId xmlns:a16="http://schemas.microsoft.com/office/drawing/2014/main" id="{F0A4EA74-E6C4-EF1A-7065-6FA2FDBDA7E5}"/>
                </a:ext>
              </a:extLst>
            </p:cNvPr>
            <p:cNvSpPr txBox="1"/>
            <p:nvPr/>
          </p:nvSpPr>
          <p:spPr>
            <a:xfrm>
              <a:off x="0" y="-15569"/>
              <a:ext cx="6387855" cy="1286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Entidad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débil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rectángulo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doble)</a:t>
              </a:r>
            </a:p>
          </p:txBody>
        </p:sp>
        <p:sp>
          <p:nvSpPr>
            <p:cNvPr id="35" name="TextBox 9">
              <a:extLst>
                <a:ext uri="{FF2B5EF4-FFF2-40B4-BE49-F238E27FC236}">
                  <a16:creationId xmlns:a16="http://schemas.microsoft.com/office/drawing/2014/main" id="{DE7D9FBA-39E5-3B4A-A10C-1FB03B93EB45}"/>
                </a:ext>
              </a:extLst>
            </p:cNvPr>
            <p:cNvSpPr txBox="1"/>
            <p:nvPr/>
          </p:nvSpPr>
          <p:spPr>
            <a:xfrm>
              <a:off x="-1" y="1479663"/>
              <a:ext cx="6387855" cy="4535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 una entidad que depende de otra para existir. No tiene clave primaria propia, sino que necesita la de otra entidad.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Detalle de Pedido depende de Pedido.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02A3538B-7445-CABB-E49F-0BCADEFEDE16}"/>
              </a:ext>
            </a:extLst>
          </p:cNvPr>
          <p:cNvGrpSpPr>
            <a:grpSpLocks noChangeAspect="1"/>
          </p:cNvGrpSpPr>
          <p:nvPr/>
        </p:nvGrpSpPr>
        <p:grpSpPr>
          <a:xfrm>
            <a:off x="1413314" y="2882002"/>
            <a:ext cx="1770940" cy="1770940"/>
            <a:chOff x="6705600" y="1371600"/>
            <a:chExt cx="10972800" cy="10972800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43347323-0715-CB41-A886-09B1F0518BA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8" name="Group 20">
            <a:extLst>
              <a:ext uri="{FF2B5EF4-FFF2-40B4-BE49-F238E27FC236}">
                <a16:creationId xmlns:a16="http://schemas.microsoft.com/office/drawing/2014/main" id="{392865E7-4B53-C00E-31AC-949C8DBB3067}"/>
              </a:ext>
            </a:extLst>
          </p:cNvPr>
          <p:cNvGrpSpPr>
            <a:grpSpLocks noChangeAspect="1"/>
          </p:cNvGrpSpPr>
          <p:nvPr/>
        </p:nvGrpSpPr>
        <p:grpSpPr>
          <a:xfrm>
            <a:off x="9719280" y="2885466"/>
            <a:ext cx="1770940" cy="1770940"/>
            <a:chOff x="6705600" y="1371600"/>
            <a:chExt cx="10972800" cy="10972800"/>
          </a:xfrm>
        </p:grpSpPr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A2EC40D7-C514-0BCB-9F0C-B96750B6B83F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B2B4322-B675-1338-4622-6924392C30A2}"/>
              </a:ext>
            </a:extLst>
          </p:cNvPr>
          <p:cNvSpPr/>
          <p:nvPr/>
        </p:nvSpPr>
        <p:spPr>
          <a:xfrm>
            <a:off x="1585491" y="3438772"/>
            <a:ext cx="1413831" cy="64523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FB0CB23-1AF1-D254-7CC6-B4BC51B6AEC1}"/>
              </a:ext>
            </a:extLst>
          </p:cNvPr>
          <p:cNvSpPr/>
          <p:nvPr/>
        </p:nvSpPr>
        <p:spPr>
          <a:xfrm>
            <a:off x="9891065" y="3445868"/>
            <a:ext cx="1413831" cy="64523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5262D09D-5520-B3AA-43B4-EF193B85B55F}"/>
              </a:ext>
            </a:extLst>
          </p:cNvPr>
          <p:cNvSpPr/>
          <p:nvPr/>
        </p:nvSpPr>
        <p:spPr>
          <a:xfrm>
            <a:off x="9984436" y="3511126"/>
            <a:ext cx="1216964" cy="5087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2355953">
            <a:off x="6010639" y="4818165"/>
            <a:ext cx="14698520" cy="4731386"/>
          </a:xfrm>
          <a:custGeom>
            <a:avLst/>
            <a:gdLst/>
            <a:ahLst/>
            <a:cxnLst/>
            <a:rect l="l" t="t" r="r" b="b"/>
            <a:pathLst>
              <a:path w="14698520" h="4731386">
                <a:moveTo>
                  <a:pt x="0" y="0"/>
                </a:moveTo>
                <a:lnTo>
                  <a:pt x="14698520" y="0"/>
                </a:lnTo>
                <a:lnTo>
                  <a:pt x="14698520" y="4731386"/>
                </a:lnTo>
                <a:lnTo>
                  <a:pt x="0" y="4731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TextBox 6"/>
          <p:cNvSpPr txBox="1"/>
          <p:nvPr/>
        </p:nvSpPr>
        <p:spPr>
          <a:xfrm>
            <a:off x="1499756" y="2195723"/>
            <a:ext cx="5910916" cy="1160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Relación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6642343" y="7183858"/>
            <a:ext cx="616957" cy="2074442"/>
            <a:chOff x="0" y="0"/>
            <a:chExt cx="822610" cy="2765923"/>
          </a:xfrm>
        </p:grpSpPr>
        <p:sp>
          <p:nvSpPr>
            <p:cNvPr id="10" name="AutoShape 10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09</a:t>
              </a:r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37489B07-476B-81FA-2AB0-8153FC445D10}"/>
              </a:ext>
            </a:extLst>
          </p:cNvPr>
          <p:cNvGrpSpPr/>
          <p:nvPr/>
        </p:nvGrpSpPr>
        <p:grpSpPr>
          <a:xfrm>
            <a:off x="4271787" y="5676900"/>
            <a:ext cx="4790891" cy="2609027"/>
            <a:chOff x="0" y="-15569"/>
            <a:chExt cx="6387855" cy="3478705"/>
          </a:xfrm>
        </p:grpSpPr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BB0BE456-D618-8041-B9A6-9FDECB1DFD2A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Relación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rombo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simple)</a:t>
              </a:r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43F73909-BF2D-4C11-0285-BC8B042C7C6E}"/>
                </a:ext>
              </a:extLst>
            </p:cNvPr>
            <p:cNvSpPr txBox="1"/>
            <p:nvPr/>
          </p:nvSpPr>
          <p:spPr>
            <a:xfrm>
              <a:off x="0" y="876956"/>
              <a:ext cx="6387855" cy="2586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Representa el vínculo entre dos o más entidades 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Paciente agenda Cita.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5" name="Group 7">
            <a:extLst>
              <a:ext uri="{FF2B5EF4-FFF2-40B4-BE49-F238E27FC236}">
                <a16:creationId xmlns:a16="http://schemas.microsoft.com/office/drawing/2014/main" id="{B585A18E-6A51-9AD1-D0D4-E7622C44FF5B}"/>
              </a:ext>
            </a:extLst>
          </p:cNvPr>
          <p:cNvGrpSpPr/>
          <p:nvPr/>
        </p:nvGrpSpPr>
        <p:grpSpPr>
          <a:xfrm>
            <a:off x="11997353" y="2686978"/>
            <a:ext cx="4790891" cy="2121714"/>
            <a:chOff x="0" y="-15569"/>
            <a:chExt cx="6387855" cy="2828954"/>
          </a:xfrm>
        </p:grpSpPr>
        <p:sp>
          <p:nvSpPr>
            <p:cNvPr id="16" name="TextBox 8">
              <a:extLst>
                <a:ext uri="{FF2B5EF4-FFF2-40B4-BE49-F238E27FC236}">
                  <a16:creationId xmlns:a16="http://schemas.microsoft.com/office/drawing/2014/main" id="{4E54848F-7AEE-6EC5-3F62-82FBF9437BA9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Relación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débil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rombo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doble)</a:t>
              </a:r>
            </a:p>
          </p:txBody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36153C46-432C-3CFA-416B-2559337EE50A}"/>
                </a:ext>
              </a:extLst>
            </p:cNvPr>
            <p:cNvSpPr txBox="1"/>
            <p:nvPr/>
          </p:nvSpPr>
          <p:spPr>
            <a:xfrm>
              <a:off x="0" y="876956"/>
              <a:ext cx="6387855" cy="1936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usa cuando una entidad débil se conecta con su entidad fuerte.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B345F6F-465F-2EB3-AF68-A8E980D9C619}"/>
              </a:ext>
            </a:extLst>
          </p:cNvPr>
          <p:cNvGrpSpPr>
            <a:grpSpLocks noChangeAspect="1"/>
          </p:cNvGrpSpPr>
          <p:nvPr/>
        </p:nvGrpSpPr>
        <p:grpSpPr>
          <a:xfrm>
            <a:off x="1404578" y="5724265"/>
            <a:ext cx="1770940" cy="1770940"/>
            <a:chOff x="6705600" y="1371600"/>
            <a:chExt cx="10972800" cy="1097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0625284-A830-8286-07C2-CF340F204EAB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C67D53A-F472-640C-F68A-6F0AEBB7A938}"/>
              </a:ext>
            </a:extLst>
          </p:cNvPr>
          <p:cNvGrpSpPr>
            <a:grpSpLocks noChangeAspect="1"/>
          </p:cNvGrpSpPr>
          <p:nvPr/>
        </p:nvGrpSpPr>
        <p:grpSpPr>
          <a:xfrm>
            <a:off x="9130145" y="2730711"/>
            <a:ext cx="1770940" cy="1770940"/>
            <a:chOff x="6705600" y="1371600"/>
            <a:chExt cx="10972800" cy="1097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2CEFBFB-253E-A9E7-C09C-DBD2BF0FEA73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24" name="Rombo 23">
            <a:extLst>
              <a:ext uri="{FF2B5EF4-FFF2-40B4-BE49-F238E27FC236}">
                <a16:creationId xmlns:a16="http://schemas.microsoft.com/office/drawing/2014/main" id="{3CC341FD-24E7-C016-6693-BAA27F280576}"/>
              </a:ext>
            </a:extLst>
          </p:cNvPr>
          <p:cNvSpPr/>
          <p:nvPr/>
        </p:nvSpPr>
        <p:spPr>
          <a:xfrm>
            <a:off x="1581284" y="5915747"/>
            <a:ext cx="1417527" cy="140166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6" name="Rombo 25">
            <a:extLst>
              <a:ext uri="{FF2B5EF4-FFF2-40B4-BE49-F238E27FC236}">
                <a16:creationId xmlns:a16="http://schemas.microsoft.com/office/drawing/2014/main" id="{7D6C8E6B-3C84-E816-BE0B-B9103B8AB947}"/>
              </a:ext>
            </a:extLst>
          </p:cNvPr>
          <p:cNvSpPr/>
          <p:nvPr/>
        </p:nvSpPr>
        <p:spPr>
          <a:xfrm>
            <a:off x="9306849" y="2915350"/>
            <a:ext cx="1417527" cy="140166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5" name="Rombo 24">
            <a:extLst>
              <a:ext uri="{FF2B5EF4-FFF2-40B4-BE49-F238E27FC236}">
                <a16:creationId xmlns:a16="http://schemas.microsoft.com/office/drawing/2014/main" id="{C38A59ED-D4FE-7F41-800E-D70D576264C1}"/>
              </a:ext>
            </a:extLst>
          </p:cNvPr>
          <p:cNvSpPr/>
          <p:nvPr/>
        </p:nvSpPr>
        <p:spPr>
          <a:xfrm>
            <a:off x="9416146" y="3037134"/>
            <a:ext cx="1198932" cy="115809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7448">
            <a:off x="-4743816" y="-4170808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5" y="0"/>
                </a:lnTo>
                <a:lnTo>
                  <a:pt x="21356205" y="6874465"/>
                </a:lnTo>
                <a:lnTo>
                  <a:pt x="0" y="687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10</a:t>
              </a:r>
            </a:p>
          </p:txBody>
        </p:sp>
      </p:grpSp>
      <p:sp>
        <p:nvSpPr>
          <p:cNvPr id="13" name="TextBox 6">
            <a:extLst>
              <a:ext uri="{FF2B5EF4-FFF2-40B4-BE49-F238E27FC236}">
                <a16:creationId xmlns:a16="http://schemas.microsoft.com/office/drawing/2014/main" id="{FA4591FA-F659-6820-EF19-7D6278549445}"/>
              </a:ext>
            </a:extLst>
          </p:cNvPr>
          <p:cNvSpPr txBox="1"/>
          <p:nvPr/>
        </p:nvSpPr>
        <p:spPr>
          <a:xfrm>
            <a:off x="1138253" y="4563176"/>
            <a:ext cx="5910916" cy="116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Atributos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3C01B73-C37C-28AA-9A39-4AB1312264EA}"/>
              </a:ext>
            </a:extLst>
          </p:cNvPr>
          <p:cNvGrpSpPr/>
          <p:nvPr/>
        </p:nvGrpSpPr>
        <p:grpSpPr>
          <a:xfrm>
            <a:off x="10668000" y="2367879"/>
            <a:ext cx="6023284" cy="3096339"/>
            <a:chOff x="0" y="-15569"/>
            <a:chExt cx="6387855" cy="4128455"/>
          </a:xfrm>
        </p:grpSpPr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1E6730F2-6306-B0E4-30C2-B451BAD2C076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Atributo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óvalo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)</a:t>
              </a: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D3D2E550-1871-657A-356D-2ABA53B5B4A2}"/>
                </a:ext>
              </a:extLst>
            </p:cNvPr>
            <p:cNvSpPr txBox="1"/>
            <p:nvPr/>
          </p:nvSpPr>
          <p:spPr>
            <a:xfrm>
              <a:off x="0" y="876956"/>
              <a:ext cx="6387855" cy="3235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Propiedad o característica de una entidad 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Nombre, Edad, Precio.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7" name="Group 7">
            <a:extLst>
              <a:ext uri="{FF2B5EF4-FFF2-40B4-BE49-F238E27FC236}">
                <a16:creationId xmlns:a16="http://schemas.microsoft.com/office/drawing/2014/main" id="{C121D189-22CE-281B-D345-9DC6C4EE8C29}"/>
              </a:ext>
            </a:extLst>
          </p:cNvPr>
          <p:cNvGrpSpPr/>
          <p:nvPr/>
        </p:nvGrpSpPr>
        <p:grpSpPr>
          <a:xfrm>
            <a:off x="10668000" y="5996761"/>
            <a:ext cx="5881877" cy="3503329"/>
            <a:chOff x="-1" y="-15569"/>
            <a:chExt cx="6387856" cy="4671110"/>
          </a:xfrm>
        </p:grpSpPr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3AF2F08F-C831-A2A3-2802-7463EFC7A94A}"/>
                </a:ext>
              </a:extLst>
            </p:cNvPr>
            <p:cNvSpPr txBox="1"/>
            <p:nvPr/>
          </p:nvSpPr>
          <p:spPr>
            <a:xfrm>
              <a:off x="0" y="-15569"/>
              <a:ext cx="6387855" cy="1286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Atributo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multivalor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óvalo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doble)</a:t>
              </a:r>
            </a:p>
          </p:txBody>
        </p:sp>
        <p:sp>
          <p:nvSpPr>
            <p:cNvPr id="19" name="TextBox 9">
              <a:extLst>
                <a:ext uri="{FF2B5EF4-FFF2-40B4-BE49-F238E27FC236}">
                  <a16:creationId xmlns:a16="http://schemas.microsoft.com/office/drawing/2014/main" id="{E411127A-51BC-F15D-C15A-C791400DBDB7}"/>
                </a:ext>
              </a:extLst>
            </p:cNvPr>
            <p:cNvSpPr txBox="1"/>
            <p:nvPr/>
          </p:nvSpPr>
          <p:spPr>
            <a:xfrm>
              <a:off x="-1" y="1419610"/>
              <a:ext cx="6387855" cy="3235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Propiedad que puede tener varios valores para una misma entidad.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Teléfonos de un cliente (puede tener varios números).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20" name="Group 18">
            <a:extLst>
              <a:ext uri="{FF2B5EF4-FFF2-40B4-BE49-F238E27FC236}">
                <a16:creationId xmlns:a16="http://schemas.microsoft.com/office/drawing/2014/main" id="{94D8B711-43CE-E257-E177-22C196128272}"/>
              </a:ext>
            </a:extLst>
          </p:cNvPr>
          <p:cNvGrpSpPr>
            <a:grpSpLocks noChangeAspect="1"/>
          </p:cNvGrpSpPr>
          <p:nvPr/>
        </p:nvGrpSpPr>
        <p:grpSpPr>
          <a:xfrm>
            <a:off x="7800791" y="2415244"/>
            <a:ext cx="1770940" cy="1770940"/>
            <a:chOff x="6705600" y="1371600"/>
            <a:chExt cx="10972800" cy="10972800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6BD0B012-3C68-8DCE-A389-7F8C75A8BB25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22" name="Group 20">
            <a:extLst>
              <a:ext uri="{FF2B5EF4-FFF2-40B4-BE49-F238E27FC236}">
                <a16:creationId xmlns:a16="http://schemas.microsoft.com/office/drawing/2014/main" id="{FB5C4A00-9906-852E-80BB-CF502629AEF0}"/>
              </a:ext>
            </a:extLst>
          </p:cNvPr>
          <p:cNvGrpSpPr>
            <a:grpSpLocks noChangeAspect="1"/>
          </p:cNvGrpSpPr>
          <p:nvPr/>
        </p:nvGrpSpPr>
        <p:grpSpPr>
          <a:xfrm>
            <a:off x="7800794" y="6040494"/>
            <a:ext cx="1770940" cy="1770940"/>
            <a:chOff x="6705600" y="1371600"/>
            <a:chExt cx="10972800" cy="10972800"/>
          </a:xfrm>
        </p:grpSpPr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76E0E5EC-4073-DEDF-2469-8B8F6012FF6B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26" name="Elipse 25">
            <a:extLst>
              <a:ext uri="{FF2B5EF4-FFF2-40B4-BE49-F238E27FC236}">
                <a16:creationId xmlns:a16="http://schemas.microsoft.com/office/drawing/2014/main" id="{1AEFC60F-D0B1-3EA2-E63B-368C7384F652}"/>
              </a:ext>
            </a:extLst>
          </p:cNvPr>
          <p:cNvSpPr/>
          <p:nvPr/>
        </p:nvSpPr>
        <p:spPr>
          <a:xfrm>
            <a:off x="7940781" y="2855965"/>
            <a:ext cx="1497028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A3BB71E1-750C-B59E-E70C-4BFB6716BA27}"/>
              </a:ext>
            </a:extLst>
          </p:cNvPr>
          <p:cNvSpPr/>
          <p:nvPr/>
        </p:nvSpPr>
        <p:spPr>
          <a:xfrm>
            <a:off x="7946802" y="6468764"/>
            <a:ext cx="1497028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3A381E7-A3EC-B3E2-60B4-91610CA00131}"/>
              </a:ext>
            </a:extLst>
          </p:cNvPr>
          <p:cNvSpPr/>
          <p:nvPr/>
        </p:nvSpPr>
        <p:spPr>
          <a:xfrm>
            <a:off x="8029020" y="6581186"/>
            <a:ext cx="1343582" cy="7083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57431">
            <a:off x="4245595" y="3598310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/>
          <p:cNvSpPr txBox="1"/>
          <p:nvPr/>
        </p:nvSpPr>
        <p:spPr>
          <a:xfrm>
            <a:off x="9144000" y="1095375"/>
            <a:ext cx="6788617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Cardinalidad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7" name="AutoShape 7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11</a:t>
              </a: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33609" y="2332927"/>
            <a:ext cx="1770940" cy="1770940"/>
            <a:chOff x="6705600" y="1371600"/>
            <a:chExt cx="10972800" cy="10972800"/>
          </a:xfrm>
        </p:grpSpPr>
        <p:sp>
          <p:nvSpPr>
            <p:cNvPr id="10" name="Freeform 10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35028" y="5596094"/>
            <a:ext cx="1770940" cy="1770940"/>
            <a:chOff x="6705600" y="1371600"/>
            <a:chExt cx="10972800" cy="10972800"/>
          </a:xfrm>
        </p:grpSpPr>
        <p:sp>
          <p:nvSpPr>
            <p:cNvPr id="13" name="Freeform 13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24" name="Group 4">
            <a:extLst>
              <a:ext uri="{FF2B5EF4-FFF2-40B4-BE49-F238E27FC236}">
                <a16:creationId xmlns:a16="http://schemas.microsoft.com/office/drawing/2014/main" id="{91033CF0-C8DD-C80C-4E85-7C8A6652C403}"/>
              </a:ext>
            </a:extLst>
          </p:cNvPr>
          <p:cNvGrpSpPr/>
          <p:nvPr/>
        </p:nvGrpSpPr>
        <p:grpSpPr>
          <a:xfrm>
            <a:off x="3657599" y="2332927"/>
            <a:ext cx="8077201" cy="2609027"/>
            <a:chOff x="0" y="-15569"/>
            <a:chExt cx="6387855" cy="3478706"/>
          </a:xfrm>
        </p:grpSpPr>
        <p:sp>
          <p:nvSpPr>
            <p:cNvPr id="25" name="TextBox 5">
              <a:extLst>
                <a:ext uri="{FF2B5EF4-FFF2-40B4-BE49-F238E27FC236}">
                  <a16:creationId xmlns:a16="http://schemas.microsoft.com/office/drawing/2014/main" id="{8F800DE3-5C77-3802-57EF-83F72DF696E1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Cero o uno (0..1)</a:t>
              </a:r>
            </a:p>
          </p:txBody>
        </p:sp>
        <p:sp>
          <p:nvSpPr>
            <p:cNvPr id="26" name="TextBox 6">
              <a:extLst>
                <a:ext uri="{FF2B5EF4-FFF2-40B4-BE49-F238E27FC236}">
                  <a16:creationId xmlns:a16="http://schemas.microsoft.com/office/drawing/2014/main" id="{FBE51E54-F22E-4929-7465-11CB50758ADD}"/>
                </a:ext>
              </a:extLst>
            </p:cNvPr>
            <p:cNvSpPr txBox="1"/>
            <p:nvPr/>
          </p:nvSpPr>
          <p:spPr>
            <a:xfrm>
              <a:off x="0" y="876956"/>
              <a:ext cx="6387855" cy="258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Una entidad puede estar relacionada con ninguna o con una instancia de la otra.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Un estudiante puede tener una beca, o no.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712D9C0-6333-3B2C-B193-89E18C338B97}"/>
              </a:ext>
            </a:extLst>
          </p:cNvPr>
          <p:cNvCxnSpPr>
            <a:cxnSpLocks/>
          </p:cNvCxnSpPr>
          <p:nvPr/>
        </p:nvCxnSpPr>
        <p:spPr>
          <a:xfrm>
            <a:off x="1439782" y="3257350"/>
            <a:ext cx="130660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EF5273EB-AB98-D4A6-17C7-926A7ADD52EF}"/>
              </a:ext>
            </a:extLst>
          </p:cNvPr>
          <p:cNvCxnSpPr>
            <a:cxnSpLocks/>
          </p:cNvCxnSpPr>
          <p:nvPr/>
        </p:nvCxnSpPr>
        <p:spPr>
          <a:xfrm>
            <a:off x="2438400" y="2983470"/>
            <a:ext cx="0" cy="55983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4">
            <a:extLst>
              <a:ext uri="{FF2B5EF4-FFF2-40B4-BE49-F238E27FC236}">
                <a16:creationId xmlns:a16="http://schemas.microsoft.com/office/drawing/2014/main" id="{67C1F515-2F81-2411-B956-6813E82DACF5}"/>
              </a:ext>
            </a:extLst>
          </p:cNvPr>
          <p:cNvGrpSpPr/>
          <p:nvPr/>
        </p:nvGrpSpPr>
        <p:grpSpPr>
          <a:xfrm>
            <a:off x="3657600" y="5552361"/>
            <a:ext cx="6023284" cy="3096339"/>
            <a:chOff x="0" y="-15569"/>
            <a:chExt cx="6387855" cy="4128456"/>
          </a:xfrm>
        </p:grpSpPr>
        <p:sp>
          <p:nvSpPr>
            <p:cNvPr id="34" name="TextBox 5">
              <a:extLst>
                <a:ext uri="{FF2B5EF4-FFF2-40B4-BE49-F238E27FC236}">
                  <a16:creationId xmlns:a16="http://schemas.microsoft.com/office/drawing/2014/main" id="{DC4C8909-E87C-EB72-491E-8B7982FCEF3F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Muchos (N)</a:t>
              </a:r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FF8295F8-86A2-22AE-C29D-55CC4D8BDEFD}"/>
                </a:ext>
              </a:extLst>
            </p:cNvPr>
            <p:cNvSpPr txBox="1"/>
            <p:nvPr/>
          </p:nvSpPr>
          <p:spPr>
            <a:xfrm>
              <a:off x="0" y="876956"/>
              <a:ext cx="6387855" cy="3235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Una entidad puede estar relacionada con muchas instancias de la otra.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Un cliente puede hacer muchos pedidos.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99B80A9-0BF7-8800-C28D-DB8C14CE78A7}"/>
              </a:ext>
            </a:extLst>
          </p:cNvPr>
          <p:cNvCxnSpPr>
            <a:cxnSpLocks/>
          </p:cNvCxnSpPr>
          <p:nvPr/>
        </p:nvCxnSpPr>
        <p:spPr>
          <a:xfrm>
            <a:off x="1439781" y="6481564"/>
            <a:ext cx="1306607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88979AB2-BEF8-79DC-FF17-A7D0513216CE}"/>
              </a:ext>
            </a:extLst>
          </p:cNvPr>
          <p:cNvCxnSpPr>
            <a:cxnSpLocks/>
          </p:cNvCxnSpPr>
          <p:nvPr/>
        </p:nvCxnSpPr>
        <p:spPr>
          <a:xfrm flipH="1">
            <a:off x="2354182" y="6221754"/>
            <a:ext cx="392206" cy="25981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A0CAD05-1508-EF87-F505-DFF316609C07}"/>
              </a:ext>
            </a:extLst>
          </p:cNvPr>
          <p:cNvCxnSpPr>
            <a:cxnSpLocks/>
          </p:cNvCxnSpPr>
          <p:nvPr/>
        </p:nvCxnSpPr>
        <p:spPr>
          <a:xfrm flipH="1" flipV="1">
            <a:off x="2354182" y="6481564"/>
            <a:ext cx="326603" cy="280986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46128562-073A-06AA-B3B8-F5C2766899EA}"/>
              </a:ext>
            </a:extLst>
          </p:cNvPr>
          <p:cNvSpPr/>
          <p:nvPr/>
        </p:nvSpPr>
        <p:spPr>
          <a:xfrm>
            <a:off x="2209800" y="3078519"/>
            <a:ext cx="457180" cy="38858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F9010-7AC4-078E-64A7-87751615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1EABDF3-0641-24C0-9C64-0256AC16690E}"/>
              </a:ext>
            </a:extLst>
          </p:cNvPr>
          <p:cNvSpPr/>
          <p:nvPr/>
        </p:nvSpPr>
        <p:spPr>
          <a:xfrm rot="-1957431">
            <a:off x="4245595" y="3598310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F1CECF0-51B2-31A0-C36D-CD78226FC269}"/>
              </a:ext>
            </a:extLst>
          </p:cNvPr>
          <p:cNvSpPr txBox="1"/>
          <p:nvPr/>
        </p:nvSpPr>
        <p:spPr>
          <a:xfrm>
            <a:off x="9144000" y="1095375"/>
            <a:ext cx="6788617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Cardinalidad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F339F41-5185-039C-E31B-A719A2081951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862695AC-633E-92CB-BB1A-BD9B019AD58A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707ACE5-F16E-DB50-7BFB-F863004098A6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12</a:t>
              </a:r>
            </a:p>
          </p:txBody>
        </p:sp>
      </p:grpSp>
      <p:grpSp>
        <p:nvGrpSpPr>
          <p:cNvPr id="32" name="Group 9">
            <a:extLst>
              <a:ext uri="{FF2B5EF4-FFF2-40B4-BE49-F238E27FC236}">
                <a16:creationId xmlns:a16="http://schemas.microsoft.com/office/drawing/2014/main" id="{EEAC2194-E793-42E8-72A8-EFA2D7AFF683}"/>
              </a:ext>
            </a:extLst>
          </p:cNvPr>
          <p:cNvGrpSpPr>
            <a:grpSpLocks noChangeAspect="1"/>
          </p:cNvGrpSpPr>
          <p:nvPr/>
        </p:nvGrpSpPr>
        <p:grpSpPr>
          <a:xfrm>
            <a:off x="1233609" y="1866900"/>
            <a:ext cx="1770940" cy="1770940"/>
            <a:chOff x="6705600" y="1371600"/>
            <a:chExt cx="10972800" cy="10972800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8F96AE39-EC60-1746-6D8A-8580EA8A25CC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4" name="Group 12">
            <a:extLst>
              <a:ext uri="{FF2B5EF4-FFF2-40B4-BE49-F238E27FC236}">
                <a16:creationId xmlns:a16="http://schemas.microsoft.com/office/drawing/2014/main" id="{10A869B4-ED84-FD60-EA73-262C984BC297}"/>
              </a:ext>
            </a:extLst>
          </p:cNvPr>
          <p:cNvGrpSpPr>
            <a:grpSpLocks noChangeAspect="1"/>
          </p:cNvGrpSpPr>
          <p:nvPr/>
        </p:nvGrpSpPr>
        <p:grpSpPr>
          <a:xfrm>
            <a:off x="1235028" y="5130067"/>
            <a:ext cx="1770940" cy="1770940"/>
            <a:chOff x="6705600" y="1371600"/>
            <a:chExt cx="10972800" cy="10972800"/>
          </a:xfrm>
        </p:grpSpPr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8E2F2694-B0F9-9CC1-3AC7-CF7E6E380EB5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6" name="Group 4">
            <a:extLst>
              <a:ext uri="{FF2B5EF4-FFF2-40B4-BE49-F238E27FC236}">
                <a16:creationId xmlns:a16="http://schemas.microsoft.com/office/drawing/2014/main" id="{AC97C69D-9677-9420-9946-1AA3560703A3}"/>
              </a:ext>
            </a:extLst>
          </p:cNvPr>
          <p:cNvGrpSpPr/>
          <p:nvPr/>
        </p:nvGrpSpPr>
        <p:grpSpPr>
          <a:xfrm>
            <a:off x="3657600" y="1866900"/>
            <a:ext cx="6023284" cy="2609027"/>
            <a:chOff x="0" y="-15569"/>
            <a:chExt cx="6387855" cy="3478706"/>
          </a:xfrm>
        </p:grpSpPr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2C141631-3BCA-40A8-BF04-1FA7FBC7BFF2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Uno (1)</a:t>
              </a:r>
            </a:p>
          </p:txBody>
        </p:sp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D28628A1-4ABD-89A1-48C1-60DFA36931CD}"/>
                </a:ext>
              </a:extLst>
            </p:cNvPr>
            <p:cNvSpPr txBox="1"/>
            <p:nvPr/>
          </p:nvSpPr>
          <p:spPr>
            <a:xfrm>
              <a:off x="0" y="876956"/>
              <a:ext cx="6387855" cy="258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Relación estricta de uno a uno. 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Cada persona tiene un único número de cédula.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F8067B7-CA32-D16F-486C-33A6B447920C}"/>
              </a:ext>
            </a:extLst>
          </p:cNvPr>
          <p:cNvCxnSpPr>
            <a:cxnSpLocks/>
          </p:cNvCxnSpPr>
          <p:nvPr/>
        </p:nvCxnSpPr>
        <p:spPr>
          <a:xfrm>
            <a:off x="1439782" y="2791323"/>
            <a:ext cx="130660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AC90EE4C-0019-9EAE-2F4E-CE7A6CC70231}"/>
              </a:ext>
            </a:extLst>
          </p:cNvPr>
          <p:cNvCxnSpPr>
            <a:cxnSpLocks/>
          </p:cNvCxnSpPr>
          <p:nvPr/>
        </p:nvCxnSpPr>
        <p:spPr>
          <a:xfrm>
            <a:off x="2506582" y="2536293"/>
            <a:ext cx="0" cy="55983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">
            <a:extLst>
              <a:ext uri="{FF2B5EF4-FFF2-40B4-BE49-F238E27FC236}">
                <a16:creationId xmlns:a16="http://schemas.microsoft.com/office/drawing/2014/main" id="{D92BF17D-56CC-76E2-2E02-E1C9DA3CCD2D}"/>
              </a:ext>
            </a:extLst>
          </p:cNvPr>
          <p:cNvGrpSpPr/>
          <p:nvPr/>
        </p:nvGrpSpPr>
        <p:grpSpPr>
          <a:xfrm>
            <a:off x="3657600" y="5086334"/>
            <a:ext cx="6023284" cy="3096339"/>
            <a:chOff x="0" y="-15569"/>
            <a:chExt cx="6387855" cy="4128456"/>
          </a:xfrm>
        </p:grpSpPr>
        <p:sp>
          <p:nvSpPr>
            <p:cNvPr id="42" name="TextBox 5">
              <a:extLst>
                <a:ext uri="{FF2B5EF4-FFF2-40B4-BE49-F238E27FC236}">
                  <a16:creationId xmlns:a16="http://schemas.microsoft.com/office/drawing/2014/main" id="{11102080-FBF3-4902-9084-CE2254EF3062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Uno y solo uno (exactamente 1)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43" name="TextBox 6">
              <a:extLst>
                <a:ext uri="{FF2B5EF4-FFF2-40B4-BE49-F238E27FC236}">
                  <a16:creationId xmlns:a16="http://schemas.microsoft.com/office/drawing/2014/main" id="{EF3A0260-83E9-AA33-07EB-731B6379CEBC}"/>
                </a:ext>
              </a:extLst>
            </p:cNvPr>
            <p:cNvSpPr txBox="1"/>
            <p:nvPr/>
          </p:nvSpPr>
          <p:spPr>
            <a:xfrm>
              <a:off x="0" y="876956"/>
              <a:ext cx="6387855" cy="3235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 </a:t>
              </a:r>
              <a:r>
                <a:rPr lang="es-MX" sz="2919" b="1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obligatorio</a:t>
              </a: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que haya exactamente una relación.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Cada factura debe estar asociada a un único cliente.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224132A-CFB1-58E0-5297-142618CD0461}"/>
              </a:ext>
            </a:extLst>
          </p:cNvPr>
          <p:cNvCxnSpPr>
            <a:cxnSpLocks/>
          </p:cNvCxnSpPr>
          <p:nvPr/>
        </p:nvCxnSpPr>
        <p:spPr>
          <a:xfrm>
            <a:off x="1439781" y="6015537"/>
            <a:ext cx="1306607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56DAF8F-80EF-A6F4-F18D-C089C313E766}"/>
              </a:ext>
            </a:extLst>
          </p:cNvPr>
          <p:cNvCxnSpPr>
            <a:cxnSpLocks/>
          </p:cNvCxnSpPr>
          <p:nvPr/>
        </p:nvCxnSpPr>
        <p:spPr>
          <a:xfrm>
            <a:off x="2286000" y="5755727"/>
            <a:ext cx="0" cy="540796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EE3E13E3-BA1E-2A39-8AF7-D72511738787}"/>
              </a:ext>
            </a:extLst>
          </p:cNvPr>
          <p:cNvCxnSpPr>
            <a:cxnSpLocks/>
          </p:cNvCxnSpPr>
          <p:nvPr/>
        </p:nvCxnSpPr>
        <p:spPr>
          <a:xfrm flipV="1">
            <a:off x="2506582" y="5755727"/>
            <a:ext cx="0" cy="540796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547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79041-A4F0-C91E-39C6-46844954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97B6D0-292E-B626-62AE-42F3B1864734}"/>
              </a:ext>
            </a:extLst>
          </p:cNvPr>
          <p:cNvSpPr/>
          <p:nvPr/>
        </p:nvSpPr>
        <p:spPr>
          <a:xfrm rot="-1957431">
            <a:off x="4245595" y="3598310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28E4BDC-5512-1436-F747-9CC3398B0ADC}"/>
              </a:ext>
            </a:extLst>
          </p:cNvPr>
          <p:cNvSpPr txBox="1"/>
          <p:nvPr/>
        </p:nvSpPr>
        <p:spPr>
          <a:xfrm>
            <a:off x="9144000" y="1095375"/>
            <a:ext cx="6788617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Cardinalidad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3224713-D2BE-586F-A1ED-941E425C4564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EE4D101A-BCC9-6822-345E-86A39B8F6AFF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E17893D-93A9-2366-0147-E3D3151193D1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13</a:t>
              </a:r>
            </a:p>
          </p:txBody>
        </p:sp>
      </p:grpSp>
      <p:grpSp>
        <p:nvGrpSpPr>
          <p:cNvPr id="32" name="Group 9">
            <a:extLst>
              <a:ext uri="{FF2B5EF4-FFF2-40B4-BE49-F238E27FC236}">
                <a16:creationId xmlns:a16="http://schemas.microsoft.com/office/drawing/2014/main" id="{665CDDD2-E0B1-C7FF-0A31-182EC34295EE}"/>
              </a:ext>
            </a:extLst>
          </p:cNvPr>
          <p:cNvGrpSpPr>
            <a:grpSpLocks noChangeAspect="1"/>
          </p:cNvGrpSpPr>
          <p:nvPr/>
        </p:nvGrpSpPr>
        <p:grpSpPr>
          <a:xfrm>
            <a:off x="1233609" y="1866900"/>
            <a:ext cx="1770940" cy="1770940"/>
            <a:chOff x="6705600" y="1371600"/>
            <a:chExt cx="10972800" cy="10972800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7188D4A5-1D16-5428-4F7C-BE377508901D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4" name="Group 12">
            <a:extLst>
              <a:ext uri="{FF2B5EF4-FFF2-40B4-BE49-F238E27FC236}">
                <a16:creationId xmlns:a16="http://schemas.microsoft.com/office/drawing/2014/main" id="{FB87B85C-7E3E-C719-0C1D-78C5C1BC147B}"/>
              </a:ext>
            </a:extLst>
          </p:cNvPr>
          <p:cNvGrpSpPr>
            <a:grpSpLocks noChangeAspect="1"/>
          </p:cNvGrpSpPr>
          <p:nvPr/>
        </p:nvGrpSpPr>
        <p:grpSpPr>
          <a:xfrm>
            <a:off x="1235028" y="5130067"/>
            <a:ext cx="1770940" cy="1770940"/>
            <a:chOff x="6705600" y="1371600"/>
            <a:chExt cx="10972800" cy="10972800"/>
          </a:xfrm>
        </p:grpSpPr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9C078BA2-0B96-6D73-1DA8-2DC56CE0F0D3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6" name="Group 4">
            <a:extLst>
              <a:ext uri="{FF2B5EF4-FFF2-40B4-BE49-F238E27FC236}">
                <a16:creationId xmlns:a16="http://schemas.microsoft.com/office/drawing/2014/main" id="{6016A255-389B-495C-6A3A-85684A111E8F}"/>
              </a:ext>
            </a:extLst>
          </p:cNvPr>
          <p:cNvGrpSpPr/>
          <p:nvPr/>
        </p:nvGrpSpPr>
        <p:grpSpPr>
          <a:xfrm>
            <a:off x="3657600" y="1866900"/>
            <a:ext cx="9372600" cy="2609027"/>
            <a:chOff x="0" y="-15569"/>
            <a:chExt cx="6387855" cy="3478706"/>
          </a:xfrm>
        </p:grpSpPr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7F20A5A3-1FBA-EBB3-B58D-A7E051FCEE1E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pt-BR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Cero o </a:t>
              </a:r>
              <a:r>
                <a:rPr lang="pt-BR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muchos</a:t>
              </a:r>
              <a:r>
                <a:rPr lang="pt-BR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(0..N)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AABEE2B2-8015-23A5-A288-4969BB5AADDF}"/>
                </a:ext>
              </a:extLst>
            </p:cNvPr>
            <p:cNvSpPr txBox="1"/>
            <p:nvPr/>
          </p:nvSpPr>
          <p:spPr>
            <a:xfrm>
              <a:off x="0" y="876956"/>
              <a:ext cx="6387855" cy="258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Relación </a:t>
              </a:r>
              <a:r>
                <a:rPr lang="es-MX" sz="2919" b="1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opcional</a:t>
              </a: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pero potencialmente múltiple.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Un cliente puede no haber hecho pedidos todavía, o haber hecho varios.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41" name="Group 4">
            <a:extLst>
              <a:ext uri="{FF2B5EF4-FFF2-40B4-BE49-F238E27FC236}">
                <a16:creationId xmlns:a16="http://schemas.microsoft.com/office/drawing/2014/main" id="{5084D1CC-A44C-C542-9328-31F449E89E58}"/>
              </a:ext>
            </a:extLst>
          </p:cNvPr>
          <p:cNvGrpSpPr/>
          <p:nvPr/>
        </p:nvGrpSpPr>
        <p:grpSpPr>
          <a:xfrm>
            <a:off x="3657600" y="5086334"/>
            <a:ext cx="6023284" cy="3583652"/>
            <a:chOff x="0" y="-15569"/>
            <a:chExt cx="6387855" cy="4778207"/>
          </a:xfrm>
        </p:grpSpPr>
        <p:sp>
          <p:nvSpPr>
            <p:cNvPr id="42" name="TextBox 5">
              <a:extLst>
                <a:ext uri="{FF2B5EF4-FFF2-40B4-BE49-F238E27FC236}">
                  <a16:creationId xmlns:a16="http://schemas.microsoft.com/office/drawing/2014/main" id="{5CABB8E5-874D-712E-D284-8929E71C360E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Uno o muchos (1..N)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43" name="TextBox 6">
              <a:extLst>
                <a:ext uri="{FF2B5EF4-FFF2-40B4-BE49-F238E27FC236}">
                  <a16:creationId xmlns:a16="http://schemas.microsoft.com/office/drawing/2014/main" id="{CFF9C49A-6089-95CC-B931-4DA3FF01DE7F}"/>
                </a:ext>
              </a:extLst>
            </p:cNvPr>
            <p:cNvSpPr txBox="1"/>
            <p:nvPr/>
          </p:nvSpPr>
          <p:spPr>
            <a:xfrm>
              <a:off x="0" y="876956"/>
              <a:ext cx="6387855" cy="3885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Siempre debe haber al menos una relación, y puede haber varias.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Un pedido debe tener al menos un producto, pero puede tener varios.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B78F0076-1CDA-4E0F-A331-CF75D925C1A4}"/>
              </a:ext>
            </a:extLst>
          </p:cNvPr>
          <p:cNvCxnSpPr>
            <a:cxnSpLocks/>
          </p:cNvCxnSpPr>
          <p:nvPr/>
        </p:nvCxnSpPr>
        <p:spPr>
          <a:xfrm>
            <a:off x="1447800" y="6012910"/>
            <a:ext cx="1306607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AD271F9E-72C6-0B75-41D3-63F6F9DDAA7E}"/>
              </a:ext>
            </a:extLst>
          </p:cNvPr>
          <p:cNvCxnSpPr>
            <a:cxnSpLocks/>
          </p:cNvCxnSpPr>
          <p:nvPr/>
        </p:nvCxnSpPr>
        <p:spPr>
          <a:xfrm>
            <a:off x="2286000" y="5755727"/>
            <a:ext cx="0" cy="540796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B503E23-EA18-FA27-8CFA-F0E9374660C1}"/>
              </a:ext>
            </a:extLst>
          </p:cNvPr>
          <p:cNvCxnSpPr>
            <a:cxnSpLocks/>
          </p:cNvCxnSpPr>
          <p:nvPr/>
        </p:nvCxnSpPr>
        <p:spPr>
          <a:xfrm>
            <a:off x="1396078" y="2736310"/>
            <a:ext cx="130660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1968C12-7FAC-CBF2-EDF4-471F25EC3202}"/>
              </a:ext>
            </a:extLst>
          </p:cNvPr>
          <p:cNvCxnSpPr>
            <a:cxnSpLocks/>
          </p:cNvCxnSpPr>
          <p:nvPr/>
        </p:nvCxnSpPr>
        <p:spPr>
          <a:xfrm flipH="1">
            <a:off x="2310479" y="2476500"/>
            <a:ext cx="392206" cy="25981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705DF28-D4DE-E6AC-A802-58389519593C}"/>
              </a:ext>
            </a:extLst>
          </p:cNvPr>
          <p:cNvCxnSpPr>
            <a:cxnSpLocks/>
          </p:cNvCxnSpPr>
          <p:nvPr/>
        </p:nvCxnSpPr>
        <p:spPr>
          <a:xfrm flipH="1" flipV="1">
            <a:off x="2310479" y="2736310"/>
            <a:ext cx="326603" cy="280986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2802384B-6106-4E95-7ECD-D7FC5E08A375}"/>
              </a:ext>
            </a:extLst>
          </p:cNvPr>
          <p:cNvSpPr/>
          <p:nvPr/>
        </p:nvSpPr>
        <p:spPr>
          <a:xfrm>
            <a:off x="1860566" y="2542018"/>
            <a:ext cx="457180" cy="38858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11AF309-CC7C-43BD-6290-212B3DF6C01E}"/>
              </a:ext>
            </a:extLst>
          </p:cNvPr>
          <p:cNvCxnSpPr>
            <a:cxnSpLocks/>
          </p:cNvCxnSpPr>
          <p:nvPr/>
        </p:nvCxnSpPr>
        <p:spPr>
          <a:xfrm flipH="1">
            <a:off x="2286000" y="5753100"/>
            <a:ext cx="392206" cy="25981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0433AF8-67DE-B273-E000-2EEC7DB3C7B4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5981700"/>
            <a:ext cx="366366" cy="303439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475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27308">
            <a:off x="-6906184" y="-1872346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/>
          <p:cNvSpPr txBox="1"/>
          <p:nvPr/>
        </p:nvSpPr>
        <p:spPr>
          <a:xfrm>
            <a:off x="960770" y="2896282"/>
            <a:ext cx="6210300" cy="34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Restricciones</a:t>
            </a:r>
            <a:r>
              <a:rPr lang="en-US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</a:t>
            </a: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participación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2127195" y="2361740"/>
            <a:ext cx="4790891" cy="2121714"/>
            <a:chOff x="0" y="-15569"/>
            <a:chExt cx="6387855" cy="2828954"/>
          </a:xfrm>
        </p:grpSpPr>
        <p:sp>
          <p:nvSpPr>
            <p:cNvPr id="5" name="TextBox 5"/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Total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76956"/>
              <a:ext cx="6387855" cy="1936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Cuando cada entidad en A participa en al menos una relación de R.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127194" y="5399088"/>
            <a:ext cx="4790891" cy="2121714"/>
            <a:chOff x="0" y="-15569"/>
            <a:chExt cx="6387855" cy="2828954"/>
          </a:xfrm>
        </p:grpSpPr>
        <p:sp>
          <p:nvSpPr>
            <p:cNvPr id="8" name="TextBox 8"/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Parcial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76956"/>
              <a:ext cx="6387855" cy="1936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Cuando al menos una entidad en A NO participa en alguna relación de R.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 rot="-1627308">
            <a:off x="5445209" y="7487829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15" name="Group 15"/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14</a:t>
              </a:r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259986" y="2409105"/>
            <a:ext cx="1770940" cy="1770940"/>
            <a:chOff x="6705600" y="1371600"/>
            <a:chExt cx="10972800" cy="10972800"/>
          </a:xfrm>
        </p:grpSpPr>
        <p:sp>
          <p:nvSpPr>
            <p:cNvPr id="19" name="Freeform 19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9259986" y="5442821"/>
            <a:ext cx="1770940" cy="1770940"/>
            <a:chOff x="6705600" y="1371600"/>
            <a:chExt cx="10972800" cy="10972800"/>
          </a:xfrm>
        </p:grpSpPr>
        <p:sp>
          <p:nvSpPr>
            <p:cNvPr id="21" name="Freeform 21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24" name="Freeform 24" descr="Conectado contorno"/>
          <p:cNvSpPr/>
          <p:nvPr/>
        </p:nvSpPr>
        <p:spPr>
          <a:xfrm>
            <a:off x="9399975" y="5582810"/>
            <a:ext cx="1490962" cy="1490962"/>
          </a:xfrm>
          <a:custGeom>
            <a:avLst/>
            <a:gdLst/>
            <a:ahLst/>
            <a:cxnLst/>
            <a:rect l="l" t="t" r="r" b="b"/>
            <a:pathLst>
              <a:path w="1490962" h="1490962">
                <a:moveTo>
                  <a:pt x="0" y="0"/>
                </a:moveTo>
                <a:lnTo>
                  <a:pt x="1490962" y="0"/>
                </a:lnTo>
                <a:lnTo>
                  <a:pt x="1490962" y="1490962"/>
                </a:lnTo>
                <a:lnTo>
                  <a:pt x="0" y="1490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 dirty="0"/>
          </a:p>
        </p:txBody>
      </p:sp>
      <p:sp>
        <p:nvSpPr>
          <p:cNvPr id="25" name="Freeform 25" descr="Desconectado contorno"/>
          <p:cNvSpPr/>
          <p:nvPr/>
        </p:nvSpPr>
        <p:spPr>
          <a:xfrm>
            <a:off x="9399975" y="2549094"/>
            <a:ext cx="1490962" cy="1490962"/>
          </a:xfrm>
          <a:custGeom>
            <a:avLst/>
            <a:gdLst/>
            <a:ahLst/>
            <a:cxnLst/>
            <a:rect l="l" t="t" r="r" b="b"/>
            <a:pathLst>
              <a:path w="1490962" h="1490962">
                <a:moveTo>
                  <a:pt x="0" y="0"/>
                </a:moveTo>
                <a:lnTo>
                  <a:pt x="1490962" y="0"/>
                </a:lnTo>
                <a:lnTo>
                  <a:pt x="1490962" y="1490962"/>
                </a:lnTo>
                <a:lnTo>
                  <a:pt x="0" y="1490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Ejemplo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1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 una agencia inmobiliaria se tiene registrados a los propietarios de las viviendas que se venden.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569AD5C-1DB3-9112-0246-D39FA2046605}"/>
              </a:ext>
            </a:extLst>
          </p:cNvPr>
          <p:cNvSpPr txBox="1"/>
          <p:nvPr/>
        </p:nvSpPr>
        <p:spPr>
          <a:xfrm>
            <a:off x="11798767" y="8921341"/>
            <a:ext cx="4133850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3"/>
              </a:lnSpc>
            </a:pPr>
            <a:r>
              <a:rPr lang="es-MX" sz="2399" b="1" noProof="0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¿Total o Parcial?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20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705100"/>
            <a:ext cx="11571270" cy="25908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C8F62-D0B5-A49B-8A89-BD0E506B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695E05B-6175-469C-6231-35C4D708C13C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AAC2F98-BF10-D5EC-ECD2-EB5BA607AE8A}"/>
              </a:ext>
            </a:extLst>
          </p:cNvPr>
          <p:cNvGrpSpPr/>
          <p:nvPr/>
        </p:nvGrpSpPr>
        <p:grpSpPr>
          <a:xfrm>
            <a:off x="1028700" y="6616622"/>
            <a:ext cx="10012402" cy="3127250"/>
            <a:chOff x="0" y="66675"/>
            <a:chExt cx="13349870" cy="4169666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DCAD0-EB6B-55DC-DBB5-3112737984CF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Ejemplo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2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D1CF29A-2910-CE29-4573-5413D34B5750}"/>
                </a:ext>
              </a:extLst>
            </p:cNvPr>
            <p:cNvSpPr txBox="1"/>
            <p:nvPr/>
          </p:nvSpPr>
          <p:spPr>
            <a:xfrm>
              <a:off x="0" y="2402249"/>
              <a:ext cx="13349870" cy="18340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 un colegio a todos los alumnos se les asignan un tutor. Los profesores son los encargados de ejercer de tutores, pudiendo tutelar a varios alumnos, aunque no todos los profesores ejercen de tutores.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7C391E1-9D5C-2F64-D11F-DE04788CF228}"/>
              </a:ext>
            </a:extLst>
          </p:cNvPr>
          <p:cNvSpPr txBox="1"/>
          <p:nvPr/>
        </p:nvSpPr>
        <p:spPr>
          <a:xfrm>
            <a:off x="11798767" y="8921341"/>
            <a:ext cx="4133850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3"/>
              </a:lnSpc>
            </a:pPr>
            <a:r>
              <a:rPr lang="es-MX" sz="2399" b="1" noProof="0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¿Total o Parcial?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291B65A-BD80-0270-306A-0BCD9DCB3BD4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C116E997-5773-8E19-B9B5-2177875155D7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7500249-CD95-1848-C5D1-177D44CED1B9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21</a:t>
              </a:r>
            </a:p>
          </p:txBody>
        </p:sp>
      </p:grp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56D71F29-6F81-BF26-345B-8E1557821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120" y="2961325"/>
            <a:ext cx="11343759" cy="250019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6248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16FEC-5A7B-305D-930D-5E0D9AA1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44C2DF-E794-217A-586A-CA16BD841F96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5BF0956-3F79-30AE-0E04-06163D69B4BA}"/>
              </a:ext>
            </a:extLst>
          </p:cNvPr>
          <p:cNvGrpSpPr/>
          <p:nvPr/>
        </p:nvGrpSpPr>
        <p:grpSpPr>
          <a:xfrm>
            <a:off x="1000991" y="5676900"/>
            <a:ext cx="12146543" cy="4050580"/>
            <a:chOff x="0" y="66675"/>
            <a:chExt cx="13349870" cy="540077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4AC53F5-0532-0DFA-B306-A032DA7AF1A8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Ejemplo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3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DD9E3B8-A7C4-0FBE-73D1-C787D6FBE1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3065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 profesor ha ofrecido a sus alumnos que quieran subir nota participar en algún proyecto de trabajo que él va a proponer.</a:t>
              </a:r>
            </a:p>
            <a:p>
              <a:pPr algn="l">
                <a:lnSpc>
                  <a:spcPts val="3584"/>
                </a:lnSpc>
              </a:pPr>
              <a:endParaRPr lang="es-MX" sz="2757" spc="-55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Los alumnos pueden apuntarse a los proyectos de forma voluntaria y cada alumno puede apuntarse solo a uno de los proyectos.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2D3A236-816F-057C-67CF-6A156D06DE48}"/>
              </a:ext>
            </a:extLst>
          </p:cNvPr>
          <p:cNvSpPr txBox="1"/>
          <p:nvPr/>
        </p:nvSpPr>
        <p:spPr>
          <a:xfrm>
            <a:off x="11798767" y="8921341"/>
            <a:ext cx="4133850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3"/>
              </a:lnSpc>
            </a:pPr>
            <a:r>
              <a:rPr lang="es-MX" sz="2399" b="1" noProof="0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¿Total o Parcial?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6826EA5-0F81-832B-CEE3-852B202D81A1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EC0148E1-C03F-82E0-1199-E8A9F88D38D9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EA5ABDD-3CE0-FF42-DEAB-196E519D530E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22</a:t>
              </a:r>
            </a:p>
          </p:txBody>
        </p:sp>
      </p:grpSp>
      <p:pic>
        <p:nvPicPr>
          <p:cNvPr id="12" name="Imagen 11" descr="Diagrama&#10;&#10;El contenido generado por IA puede ser incorrecto.">
            <a:extLst>
              <a:ext uri="{FF2B5EF4-FFF2-40B4-BE49-F238E27FC236}">
                <a16:creationId xmlns:a16="http://schemas.microsoft.com/office/drawing/2014/main" id="{25F7CF75-ADBA-42C6-170A-F6CFD9499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076" y="2214020"/>
            <a:ext cx="11051847" cy="236222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89009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F0D2E-2625-1467-646B-AF0942BA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3A3B0D-D3B0-EF53-E0E5-D2A2073D7C2E}"/>
              </a:ext>
            </a:extLst>
          </p:cNvPr>
          <p:cNvSpPr/>
          <p:nvPr/>
        </p:nvSpPr>
        <p:spPr>
          <a:xfrm>
            <a:off x="984960" y="7183858"/>
            <a:ext cx="47625" cy="1325731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F0DF20-4357-5F52-5061-B1C253F52D47}"/>
              </a:ext>
            </a:extLst>
          </p:cNvPr>
          <p:cNvSpPr/>
          <p:nvPr/>
        </p:nvSpPr>
        <p:spPr>
          <a:xfrm rot="-792178">
            <a:off x="-3184334" y="-1644671"/>
            <a:ext cx="11135343" cy="3391383"/>
          </a:xfrm>
          <a:custGeom>
            <a:avLst/>
            <a:gdLst/>
            <a:ahLst/>
            <a:cxnLst/>
            <a:rect l="l" t="t" r="r" b="b"/>
            <a:pathLst>
              <a:path w="11135343" h="3391383">
                <a:moveTo>
                  <a:pt x="0" y="0"/>
                </a:moveTo>
                <a:lnTo>
                  <a:pt x="11135343" y="0"/>
                </a:lnTo>
                <a:lnTo>
                  <a:pt x="11135343" y="3391383"/>
                </a:lnTo>
                <a:lnTo>
                  <a:pt x="0" y="339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85B0BBA-C0D1-4774-76D4-BEEE16D3B129}"/>
              </a:ext>
            </a:extLst>
          </p:cNvPr>
          <p:cNvSpPr/>
          <p:nvPr/>
        </p:nvSpPr>
        <p:spPr>
          <a:xfrm>
            <a:off x="8138756" y="1028700"/>
            <a:ext cx="52381" cy="8229600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3AAF633-953D-0DA2-609F-5080DD81A0B8}"/>
              </a:ext>
            </a:extLst>
          </p:cNvPr>
          <p:cNvSpPr txBox="1"/>
          <p:nvPr/>
        </p:nvSpPr>
        <p:spPr>
          <a:xfrm>
            <a:off x="984960" y="2914036"/>
            <a:ext cx="5910916" cy="230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Buenas prácticas 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C81DD03-C34E-A894-FA9E-6FE1DC68F019}"/>
              </a:ext>
            </a:extLst>
          </p:cNvPr>
          <p:cNvGrpSpPr/>
          <p:nvPr/>
        </p:nvGrpSpPr>
        <p:grpSpPr>
          <a:xfrm>
            <a:off x="9144000" y="1951723"/>
            <a:ext cx="8115300" cy="1063095"/>
            <a:chOff x="0" y="-15569"/>
            <a:chExt cx="10820400" cy="1417460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E9DB680-D406-2AF4-EE66-73A5499C88FF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No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repetir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90A7E5-D5F6-11E8-B1B2-5D6D910AD6A1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Datos innecesarios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5A65957-D5F9-1CD4-9FF5-706B7F979E61}"/>
              </a:ext>
            </a:extLst>
          </p:cNvPr>
          <p:cNvGrpSpPr/>
          <p:nvPr/>
        </p:nvGrpSpPr>
        <p:grpSpPr>
          <a:xfrm>
            <a:off x="9144000" y="3728083"/>
            <a:ext cx="8115300" cy="1063096"/>
            <a:chOff x="0" y="-15569"/>
            <a:chExt cx="10820400" cy="1417460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CAC2F10-8A31-FFBD-B130-505490A8975F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Usar bien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63FFEC-9246-7516-809E-5E00E77B0E67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Claves únicas y relaciones normalizadas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E22085D-E362-DF0B-901E-6369E9A024B5}"/>
              </a:ext>
            </a:extLst>
          </p:cNvPr>
          <p:cNvGrpSpPr/>
          <p:nvPr/>
        </p:nvGrpSpPr>
        <p:grpSpPr>
          <a:xfrm>
            <a:off x="9144000" y="5504444"/>
            <a:ext cx="8115300" cy="1063096"/>
            <a:chOff x="0" y="-15569"/>
            <a:chExt cx="10820400" cy="1417460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A46FEE0-1885-8C36-F546-C2F585D9CC66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Nombres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claros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87D8A77-BB18-8AE2-935B-4A8177A5FFDC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Nombrar entidades y atributos de forma clara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AF2453A-5A7C-1A36-EFE1-92645E515CDD}"/>
              </a:ext>
            </a:extLst>
          </p:cNvPr>
          <p:cNvGrpSpPr/>
          <p:nvPr/>
        </p:nvGrpSpPr>
        <p:grpSpPr>
          <a:xfrm>
            <a:off x="9144000" y="7280804"/>
            <a:ext cx="8115300" cy="1063096"/>
            <a:chOff x="0" y="-15569"/>
            <a:chExt cx="10820400" cy="1417460"/>
          </a:xfrm>
        </p:grpSpPr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E11C3EA-37A3-7077-FD79-77F070385C51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Documentar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67174747-F877-A613-C184-98C544213F09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Supuestos del dominio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0F4DCD8-386F-F769-A2C6-E5805E48FAB6}"/>
              </a:ext>
            </a:extLst>
          </p:cNvPr>
          <p:cNvSpPr txBox="1"/>
          <p:nvPr/>
        </p:nvSpPr>
        <p:spPr>
          <a:xfrm>
            <a:off x="984960" y="8921341"/>
            <a:ext cx="616957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23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FF7F2B0C-B9AF-5A24-FE07-A9F1EC6C8DF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2326388"/>
            <a:ext cx="369918" cy="369918"/>
            <a:chOff x="6705600" y="1371600"/>
            <a:chExt cx="10972800" cy="1097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7F712F2-50F7-0885-ACB8-8ECEB91A106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FDADE7D-A29D-E75B-C7AB-1F7039DA823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4102748"/>
            <a:ext cx="369918" cy="369918"/>
            <a:chOff x="6705600" y="1371600"/>
            <a:chExt cx="10972800" cy="1097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173018A-81E0-7819-230E-015AD938522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76AAEECA-6F6D-EF51-2573-F1BA123CACB7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5879109"/>
            <a:ext cx="369918" cy="369918"/>
            <a:chOff x="6705600" y="1371600"/>
            <a:chExt cx="10972800" cy="1097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17A4C6C-7600-B913-5C79-1A20B74BD0F9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73D1C8E0-25A5-26A5-E4BB-3BFEDDC56010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7655469"/>
            <a:ext cx="369918" cy="369918"/>
            <a:chOff x="6705600" y="1371600"/>
            <a:chExt cx="10972800" cy="1097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EE30EC7-79F7-353E-A264-39468EA1EDB8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3372735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8C024-D412-E5B7-CC68-85D7FB1C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0388017-53BD-F73B-2E6E-815DD901EB2A}"/>
              </a:ext>
            </a:extLst>
          </p:cNvPr>
          <p:cNvSpPr txBox="1"/>
          <p:nvPr/>
        </p:nvSpPr>
        <p:spPr>
          <a:xfrm>
            <a:off x="1028700" y="1095375"/>
            <a:ext cx="6819900" cy="230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 en clase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C66F004-5247-12AA-B485-7B86336A26C7}"/>
              </a:ext>
            </a:extLst>
          </p:cNvPr>
          <p:cNvGrpSpPr/>
          <p:nvPr/>
        </p:nvGrpSpPr>
        <p:grpSpPr>
          <a:xfrm>
            <a:off x="1028700" y="4802440"/>
            <a:ext cx="8067675" cy="3374169"/>
            <a:chOff x="0" y="-2563"/>
            <a:chExt cx="8216655" cy="4131589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AD8C84-2EAE-04B3-66E4-2885E9F7DDF5}"/>
                </a:ext>
              </a:extLst>
            </p:cNvPr>
            <p:cNvSpPr txBox="1"/>
            <p:nvPr/>
          </p:nvSpPr>
          <p:spPr>
            <a:xfrm>
              <a:off x="0" y="-2563"/>
              <a:ext cx="8216655" cy="584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B669E1A-901B-6200-60B4-8085A4D0C017}"/>
                </a:ext>
              </a:extLst>
            </p:cNvPr>
            <p:cNvSpPr txBox="1"/>
            <p:nvPr/>
          </p:nvSpPr>
          <p:spPr>
            <a:xfrm>
              <a:off x="0" y="917344"/>
              <a:ext cx="8216655" cy="11816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Modelar el ERD y el diagrama de contexto de la Clínica Salud Viva usando draw.io o </a:t>
              </a:r>
              <a:r>
                <a:rPr lang="es-MX" sz="2919" spc="-58" dirty="0" err="1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Astah</a:t>
              </a: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9ED66C4-FCDE-BDBE-BF93-C01F44DDDDB4}"/>
                </a:ext>
              </a:extLst>
            </p:cNvPr>
            <p:cNvSpPr txBox="1"/>
            <p:nvPr/>
          </p:nvSpPr>
          <p:spPr>
            <a:xfrm>
              <a:off x="0" y="2624194"/>
              <a:ext cx="8216655" cy="584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Identificar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E814D4-3F1D-91C8-5919-786B355D9639}"/>
                </a:ext>
              </a:extLst>
            </p:cNvPr>
            <p:cNvSpPr txBox="1"/>
            <p:nvPr/>
          </p:nvSpPr>
          <p:spPr>
            <a:xfrm>
              <a:off x="0" y="3544100"/>
              <a:ext cx="8216655" cy="584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Identificar entidades, atributos y flujos de datos.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4052111-5F8C-7012-328B-C6B7CB5B7F1A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F4B1BB89-ACF7-C2D1-4B73-1698B57FBE94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569B506-F27E-FF16-15BD-ED41C4BFF266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24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E1286ED-3572-9FC4-14FD-6DDB175AD7E4}"/>
              </a:ext>
            </a:extLst>
          </p:cNvPr>
          <p:cNvSpPr/>
          <p:nvPr/>
        </p:nvSpPr>
        <p:spPr>
          <a:xfrm rot="1461512" flipV="1">
            <a:off x="8601563" y="92778"/>
            <a:ext cx="14662108" cy="4465495"/>
          </a:xfrm>
          <a:custGeom>
            <a:avLst/>
            <a:gdLst/>
            <a:ahLst/>
            <a:cxnLst/>
            <a:rect l="l" t="t" r="r" b="b"/>
            <a:pathLst>
              <a:path w="14662108" h="4465495">
                <a:moveTo>
                  <a:pt x="0" y="4465495"/>
                </a:moveTo>
                <a:lnTo>
                  <a:pt x="14662108" y="4465495"/>
                </a:lnTo>
                <a:lnTo>
                  <a:pt x="14662108" y="0"/>
                </a:lnTo>
                <a:lnTo>
                  <a:pt x="0" y="0"/>
                </a:lnTo>
                <a:lnTo>
                  <a:pt x="0" y="44654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pic>
        <p:nvPicPr>
          <p:cNvPr id="10" name="Picture 2" descr="Signo de salud medico - Iconos Salud y Medicina">
            <a:extLst>
              <a:ext uri="{FF2B5EF4-FFF2-40B4-BE49-F238E27FC236}">
                <a16:creationId xmlns:a16="http://schemas.microsoft.com/office/drawing/2014/main" id="{4ACA223C-1F69-4264-B084-DF4456772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797" y="2722841"/>
            <a:ext cx="5427038" cy="54270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010" name="TextBox CaseDesc"/>
          <p:cNvSpPr txBox="1"/>
          <p:nvPr/>
        </p:nvSpPr>
        <p:spPr>
          <a:xfrm>
            <a:off x="1028700" y="3550000"/>
            <a:ext cx="9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s-MX" sz="2200" spc="-4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La Clínica Salud Viva atiende pacientes en consulta externa y laboratorio. Cada paciente agenda citas con un médico, y cada cita puede generar órdenes de laboratorio con su resultado.</a:t>
            </a:r>
          </a:p>
        </p:txBody>
      </p:sp>
    </p:spTree>
    <p:extLst>
      <p:ext uri="{BB962C8B-B14F-4D97-AF65-F5344CB8AC3E}">
        <p14:creationId xmlns:p14="http://schemas.microsoft.com/office/powerpoint/2010/main" val="3179794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BBA52-BD6C-A063-B455-CF6945A31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DF16C7-13CE-706F-86C7-96A63DA747B4}"/>
              </a:ext>
            </a:extLst>
          </p:cNvPr>
          <p:cNvSpPr/>
          <p:nvPr/>
        </p:nvSpPr>
        <p:spPr>
          <a:xfrm rot="-517448">
            <a:off x="-4743816" y="-4170808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5" y="0"/>
                </a:lnTo>
                <a:lnTo>
                  <a:pt x="21356205" y="6874465"/>
                </a:lnTo>
                <a:lnTo>
                  <a:pt x="0" y="687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B71FB16-7DA3-6557-BDDB-695BF0FB7606}"/>
              </a:ext>
            </a:extLst>
          </p:cNvPr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6BAE6E4C-FA07-913B-6E4F-9026BBBC12B3}"/>
                </a:ext>
              </a:extLst>
            </p:cNvPr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0649B02-0EEE-0107-34ED-3F435F3BB66B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25</a:t>
              </a:r>
            </a:p>
          </p:txBody>
        </p:sp>
      </p:grpSp>
      <p:sp>
        <p:nvSpPr>
          <p:cNvPr id="13" name="TextBox 6">
            <a:extLst>
              <a:ext uri="{FF2B5EF4-FFF2-40B4-BE49-F238E27FC236}">
                <a16:creationId xmlns:a16="http://schemas.microsoft.com/office/drawing/2014/main" id="{EF11F954-E1E3-F22D-C893-54B2A8C4717A}"/>
              </a:ext>
            </a:extLst>
          </p:cNvPr>
          <p:cNvSpPr txBox="1"/>
          <p:nvPr/>
        </p:nvSpPr>
        <p:spPr>
          <a:xfrm>
            <a:off x="1138253" y="4563176"/>
            <a:ext cx="5910916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Lecturas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CF5889A9-01F0-474C-A669-B7162AA351D9}"/>
              </a:ext>
            </a:extLst>
          </p:cNvPr>
          <p:cNvSpPr/>
          <p:nvPr/>
        </p:nvSpPr>
        <p:spPr>
          <a:xfrm>
            <a:off x="8138756" y="2857500"/>
            <a:ext cx="47625" cy="6400800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7A1D86-2BCB-8DFA-FC62-AF05D8A36711}"/>
              </a:ext>
            </a:extLst>
          </p:cNvPr>
          <p:cNvGrpSpPr/>
          <p:nvPr/>
        </p:nvGrpSpPr>
        <p:grpSpPr>
          <a:xfrm>
            <a:off x="9144000" y="3713098"/>
            <a:ext cx="8115300" cy="1063095"/>
            <a:chOff x="0" y="-15569"/>
            <a:chExt cx="10820400" cy="14174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59150E-8050-3020-2B92-B295B7D24FCD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Codd, E. –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Relacional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7905C7-A710-0BB2-5964-1B5C409385EB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base histórica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DD40D4-90D2-7A78-C294-9C7B3E55A50E}"/>
              </a:ext>
            </a:extLst>
          </p:cNvPr>
          <p:cNvGrpSpPr/>
          <p:nvPr/>
        </p:nvGrpSpPr>
        <p:grpSpPr>
          <a:xfrm>
            <a:off x="9144000" y="5489458"/>
            <a:ext cx="8115300" cy="1063096"/>
            <a:chOff x="0" y="-15569"/>
            <a:chExt cx="10820400" cy="14174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317864-8C0B-48FF-7487-8A5747F944E5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Conceptos de Normalización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3BD676-DB71-1659-F9BF-46551F8F201D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1NF a 3NF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24" name="Group 12">
            <a:extLst>
              <a:ext uri="{FF2B5EF4-FFF2-40B4-BE49-F238E27FC236}">
                <a16:creationId xmlns:a16="http://schemas.microsoft.com/office/drawing/2014/main" id="{F6D6CBFA-E348-FCD5-4CAC-BB390018D0B5}"/>
              </a:ext>
            </a:extLst>
          </p:cNvPr>
          <p:cNvGrpSpPr/>
          <p:nvPr/>
        </p:nvGrpSpPr>
        <p:grpSpPr>
          <a:xfrm>
            <a:off x="9144000" y="7265819"/>
            <a:ext cx="8115300" cy="1063096"/>
            <a:chOff x="0" y="-15569"/>
            <a:chExt cx="10820400" cy="1417460"/>
          </a:xfrm>
        </p:grpSpPr>
        <p:sp>
          <p:nvSpPr>
            <p:cNvPr id="25" name="TextBox 13">
              <a:extLst>
                <a:ext uri="{FF2B5EF4-FFF2-40B4-BE49-F238E27FC236}">
                  <a16:creationId xmlns:a16="http://schemas.microsoft.com/office/drawing/2014/main" id="{E01B17D1-D2EA-4FB4-712A-B98243E9F1A6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IEEE Std 1016 </a:t>
              </a:r>
            </a:p>
          </p:txBody>
        </p:sp>
        <p:sp>
          <p:nvSpPr>
            <p:cNvPr id="29" name="TextBox 14">
              <a:extLst>
                <a:ext uri="{FF2B5EF4-FFF2-40B4-BE49-F238E27FC236}">
                  <a16:creationId xmlns:a16="http://schemas.microsoft.com/office/drawing/2014/main" id="{F6B5DE77-CF88-E3F5-AF22-35997DEA5235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Recomendaciones para arquitectura de información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33" name="Group 23">
            <a:extLst>
              <a:ext uri="{FF2B5EF4-FFF2-40B4-BE49-F238E27FC236}">
                <a16:creationId xmlns:a16="http://schemas.microsoft.com/office/drawing/2014/main" id="{3713E968-CF09-4136-28F4-DF4B6D690434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4087763"/>
            <a:ext cx="369918" cy="369918"/>
            <a:chOff x="6705600" y="1371600"/>
            <a:chExt cx="10972800" cy="10972800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C1581440-2BCD-79C3-3E49-1DA0B0027D5D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35" name="Group 25">
            <a:extLst>
              <a:ext uri="{FF2B5EF4-FFF2-40B4-BE49-F238E27FC236}">
                <a16:creationId xmlns:a16="http://schemas.microsoft.com/office/drawing/2014/main" id="{7F4AD150-D8AF-D166-6E63-57D01E212BE6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5864123"/>
            <a:ext cx="369918" cy="369918"/>
            <a:chOff x="6705600" y="1371600"/>
            <a:chExt cx="10972800" cy="10972800"/>
          </a:xfrm>
        </p:grpSpPr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53E1846D-7045-3938-AADC-D82340B34AB8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37" name="Group 27">
            <a:extLst>
              <a:ext uri="{FF2B5EF4-FFF2-40B4-BE49-F238E27FC236}">
                <a16:creationId xmlns:a16="http://schemas.microsoft.com/office/drawing/2014/main" id="{AEC8CFE7-2675-06EF-7118-06E728D9064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7640484"/>
            <a:ext cx="369918" cy="369918"/>
            <a:chOff x="6705600" y="1371600"/>
            <a:chExt cx="10972800" cy="10972800"/>
          </a:xfrm>
        </p:grpSpPr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CCF3632A-9CEA-2172-E89B-0C3F140C95C2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3730070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C9FCC-60D6-1C20-7123-0E36E933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17C168-EE9F-2A59-8BC7-917599486FD8}"/>
              </a:ext>
            </a:extLst>
          </p:cNvPr>
          <p:cNvSpPr/>
          <p:nvPr/>
        </p:nvSpPr>
        <p:spPr>
          <a:xfrm rot="-8401603">
            <a:off x="5328173" y="-816435"/>
            <a:ext cx="18528255" cy="5642970"/>
          </a:xfrm>
          <a:custGeom>
            <a:avLst/>
            <a:gdLst/>
            <a:ahLst/>
            <a:cxnLst/>
            <a:rect l="l" t="t" r="r" b="b"/>
            <a:pathLst>
              <a:path w="18528255" h="5642970">
                <a:moveTo>
                  <a:pt x="0" y="0"/>
                </a:moveTo>
                <a:lnTo>
                  <a:pt x="18528254" y="0"/>
                </a:lnTo>
                <a:lnTo>
                  <a:pt x="18528254" y="5642970"/>
                </a:lnTo>
                <a:lnTo>
                  <a:pt x="0" y="5642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204C33D-35BB-7D60-0541-2CF089919D34}"/>
              </a:ext>
            </a:extLst>
          </p:cNvPr>
          <p:cNvGrpSpPr>
            <a:grpSpLocks noChangeAspect="1"/>
          </p:cNvGrpSpPr>
          <p:nvPr/>
        </p:nvGrpSpPr>
        <p:grpSpPr>
          <a:xfrm>
            <a:off x="10056816" y="1000609"/>
            <a:ext cx="7202484" cy="7220470"/>
            <a:chOff x="0" y="0"/>
            <a:chExt cx="5594350" cy="5608320"/>
          </a:xfrm>
        </p:grpSpPr>
        <p:sp>
          <p:nvSpPr>
            <p:cNvPr id="4" name="Freeform 4" descr="Persona levantando la mano">
              <a:extLst>
                <a:ext uri="{FF2B5EF4-FFF2-40B4-BE49-F238E27FC236}">
                  <a16:creationId xmlns:a16="http://schemas.microsoft.com/office/drawing/2014/main" id="{DD253126-8937-92C5-AC6F-6A8F817C0183}"/>
                </a:ext>
              </a:extLst>
            </p:cNvPr>
            <p:cNvSpPr/>
            <p:nvPr/>
          </p:nvSpPr>
          <p:spPr>
            <a:xfrm>
              <a:off x="-80010" y="-191771"/>
              <a:ext cx="6264910" cy="5977891"/>
            </a:xfrm>
            <a:custGeom>
              <a:avLst/>
              <a:gdLst/>
              <a:ahLst/>
              <a:cxnLst/>
              <a:rect l="l" t="t" r="r" b="b"/>
              <a:pathLst>
                <a:path w="6264910" h="5977891">
                  <a:moveTo>
                    <a:pt x="3576320" y="342901"/>
                  </a:moveTo>
                  <a:cubicBezTo>
                    <a:pt x="4768850" y="509271"/>
                    <a:pt x="6264910" y="971551"/>
                    <a:pt x="5435600" y="3060701"/>
                  </a:cubicBezTo>
                  <a:cubicBezTo>
                    <a:pt x="4606290" y="5149851"/>
                    <a:pt x="2889250" y="5520691"/>
                    <a:pt x="2059940" y="5749291"/>
                  </a:cubicBezTo>
                  <a:cubicBezTo>
                    <a:pt x="1230630" y="5977891"/>
                    <a:pt x="256540" y="5434331"/>
                    <a:pt x="600710" y="4203701"/>
                  </a:cubicBezTo>
                  <a:cubicBezTo>
                    <a:pt x="901700" y="3126740"/>
                    <a:pt x="0" y="1772921"/>
                    <a:pt x="86360" y="886460"/>
                  </a:cubicBezTo>
                  <a:cubicBezTo>
                    <a:pt x="172720" y="0"/>
                    <a:pt x="2145030" y="142240"/>
                    <a:pt x="3576320" y="342900"/>
                  </a:cubicBezTo>
                  <a:close/>
                </a:path>
              </a:pathLst>
            </a:cu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EEF9B50-61EC-CCD3-A926-EBE0402A96CE}"/>
              </a:ext>
            </a:extLst>
          </p:cNvPr>
          <p:cNvSpPr txBox="1"/>
          <p:nvPr/>
        </p:nvSpPr>
        <p:spPr>
          <a:xfrm>
            <a:off x="1028700" y="1078706"/>
            <a:ext cx="8115300" cy="116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Cierre y </a:t>
            </a: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reflexión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52C83B6-F013-4230-D1D5-B0FA7C41B257}"/>
              </a:ext>
            </a:extLst>
          </p:cNvPr>
          <p:cNvSpPr txBox="1"/>
          <p:nvPr/>
        </p:nvSpPr>
        <p:spPr>
          <a:xfrm>
            <a:off x="1752600" y="3878506"/>
            <a:ext cx="7122699" cy="252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s-MX" sz="2514" spc="-5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¿Qué entidad fue más difícil de modelar?</a:t>
            </a:r>
          </a:p>
          <a:p>
            <a:pPr algn="l">
              <a:lnSpc>
                <a:spcPts val="3269"/>
              </a:lnSpc>
            </a:pPr>
            <a:endParaRPr lang="es-MX" sz="2514" spc="-50" dirty="0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l">
              <a:lnSpc>
                <a:spcPts val="3269"/>
              </a:lnSpc>
            </a:pPr>
            <a:r>
              <a:rPr lang="es-MX" sz="2514" spc="-5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¿Hay datos sensibles que deban tratarse con cuidado?</a:t>
            </a:r>
          </a:p>
          <a:p>
            <a:pPr algn="l">
              <a:lnSpc>
                <a:spcPts val="3269"/>
              </a:lnSpc>
            </a:pPr>
            <a:endParaRPr lang="es-MX" sz="2514" spc="-50" dirty="0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l">
              <a:lnSpc>
                <a:spcPts val="3269"/>
              </a:lnSpc>
            </a:pPr>
            <a:r>
              <a:rPr lang="es-MX" sz="2514" spc="-5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¿Tu cliente actual entiende bien su flujo de información?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A0DFDDF-FCCD-D2F4-5506-B08FF079A51D}"/>
              </a:ext>
            </a:extLst>
          </p:cNvPr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D322891B-5DD1-5F72-9968-0E143C60DC4A}"/>
                </a:ext>
              </a:extLst>
            </p:cNvPr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68F0625-9725-A5E3-BE16-ABC8335BB879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2496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Paso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1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identifican las entidades del dominio: los sustantivos clave sobre los que necesitamos guardar información.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15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93" y="2705100"/>
            <a:ext cx="11101884" cy="39115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Paso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2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agregan los atributos de cada entidad. El atributo subrayado (círculo oscuro) es la clave primaria.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16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93" y="2705100"/>
            <a:ext cx="11101884" cy="39115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Paso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3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traza la relación entre las entidades y se nombra con un verbo: CLIENTE realiza PEDIDO.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17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93" y="2705100"/>
            <a:ext cx="11101884" cy="39115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Paso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4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agrega la cardinalidad en cada extremo de la relación: un Cliente puede realizar muchos Pedidos.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18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93" y="2705100"/>
            <a:ext cx="11101884" cy="39115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F0D2E-2625-1467-646B-AF0942BA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3A3B0D-D3B0-EF53-E0E5-D2A2073D7C2E}"/>
              </a:ext>
            </a:extLst>
          </p:cNvPr>
          <p:cNvSpPr/>
          <p:nvPr/>
        </p:nvSpPr>
        <p:spPr>
          <a:xfrm>
            <a:off x="984960" y="7183858"/>
            <a:ext cx="47625" cy="1325731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F0DF20-4357-5F52-5061-B1C253F52D47}"/>
              </a:ext>
            </a:extLst>
          </p:cNvPr>
          <p:cNvSpPr/>
          <p:nvPr/>
        </p:nvSpPr>
        <p:spPr>
          <a:xfrm rot="-792178">
            <a:off x="-3184334" y="-1644671"/>
            <a:ext cx="11135343" cy="3391383"/>
          </a:xfrm>
          <a:custGeom>
            <a:avLst/>
            <a:gdLst/>
            <a:ahLst/>
            <a:cxnLst/>
            <a:rect l="l" t="t" r="r" b="b"/>
            <a:pathLst>
              <a:path w="11135343" h="3391383">
                <a:moveTo>
                  <a:pt x="0" y="0"/>
                </a:moveTo>
                <a:lnTo>
                  <a:pt x="11135343" y="0"/>
                </a:lnTo>
                <a:lnTo>
                  <a:pt x="11135343" y="3391383"/>
                </a:lnTo>
                <a:lnTo>
                  <a:pt x="0" y="339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85B0BBA-C0D1-4774-76D4-BEEE16D3B129}"/>
              </a:ext>
            </a:extLst>
          </p:cNvPr>
          <p:cNvSpPr/>
          <p:nvPr/>
        </p:nvSpPr>
        <p:spPr>
          <a:xfrm>
            <a:off x="8138756" y="1028700"/>
            <a:ext cx="52381" cy="8229600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3AAF633-953D-0DA2-609F-5080DD81A0B8}"/>
              </a:ext>
            </a:extLst>
          </p:cNvPr>
          <p:cNvSpPr txBox="1"/>
          <p:nvPr/>
        </p:nvSpPr>
        <p:spPr>
          <a:xfrm>
            <a:off x="984960" y="2914036"/>
            <a:ext cx="5910916" cy="230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Metodología de un ERD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C81DD03-C34E-A894-FA9E-6FE1DC68F019}"/>
              </a:ext>
            </a:extLst>
          </p:cNvPr>
          <p:cNvGrpSpPr/>
          <p:nvPr/>
        </p:nvGrpSpPr>
        <p:grpSpPr>
          <a:xfrm>
            <a:off x="9144000" y="1951723"/>
            <a:ext cx="8115300" cy="1063095"/>
            <a:chOff x="0" y="-15569"/>
            <a:chExt cx="10820400" cy="1417460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E9DB680-D406-2AF4-EE66-73A5499C88FF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Identificar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entidades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90A7E5-D5F6-11E8-B1B2-5D6D910AD6A1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Los sustantivos clave del dominio que necesitan datos propios.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5A65957-D5F9-1CD4-9FF5-706B7F979E61}"/>
              </a:ext>
            </a:extLst>
          </p:cNvPr>
          <p:cNvGrpSpPr/>
          <p:nvPr/>
        </p:nvGrpSpPr>
        <p:grpSpPr>
          <a:xfrm>
            <a:off x="9144000" y="3728083"/>
            <a:ext cx="8115300" cy="1063096"/>
            <a:chOff x="0" y="-15569"/>
            <a:chExt cx="10820400" cy="1417460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CAC2F10-8A31-FFBD-B130-505490A8975F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Definir atributos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63FFEC-9246-7516-809E-5E00E77B0E67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Las propiedades de cada entidad; marcar la clave primaria.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E22085D-E362-DF0B-901E-6369E9A024B5}"/>
              </a:ext>
            </a:extLst>
          </p:cNvPr>
          <p:cNvGrpSpPr/>
          <p:nvPr/>
        </p:nvGrpSpPr>
        <p:grpSpPr>
          <a:xfrm>
            <a:off x="9144000" y="5504444"/>
            <a:ext cx="8115300" cy="1063096"/>
            <a:chOff x="0" y="-15569"/>
            <a:chExt cx="10820400" cy="1417460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A46FEE0-1885-8C36-F546-C2F585D9CC66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Trazar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relaciones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87D8A77-BB18-8AE2-935B-4A8177A5FFDC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Verbos que conectan dos o más entidades.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AF2453A-5A7C-1A36-EFE1-92645E515CDD}"/>
              </a:ext>
            </a:extLst>
          </p:cNvPr>
          <p:cNvGrpSpPr/>
          <p:nvPr/>
        </p:nvGrpSpPr>
        <p:grpSpPr>
          <a:xfrm>
            <a:off x="9144000" y="7280804"/>
            <a:ext cx="8115300" cy="1063096"/>
            <a:chOff x="0" y="-15569"/>
            <a:chExt cx="10820400" cy="1417460"/>
          </a:xfrm>
        </p:grpSpPr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E11C3EA-37A3-7077-FD79-77F070385C51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Asignar cardinalidad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67174747-F877-A613-C184-98C544213F09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Cuántas instancias participan a cada lado de la relación.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0F4DCD8-386F-F769-A2C6-E5805E48FAB6}"/>
              </a:ext>
            </a:extLst>
          </p:cNvPr>
          <p:cNvSpPr txBox="1"/>
          <p:nvPr/>
        </p:nvSpPr>
        <p:spPr>
          <a:xfrm>
            <a:off x="984960" y="8921341"/>
            <a:ext cx="616957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19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FF7F2B0C-B9AF-5A24-FE07-A9F1EC6C8DF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2326388"/>
            <a:ext cx="369918" cy="369918"/>
            <a:chOff x="6705600" y="1371600"/>
            <a:chExt cx="10972800" cy="1097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7F712F2-50F7-0885-ACB8-8ECEB91A106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FDADE7D-A29D-E75B-C7AB-1F7039DA823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4102748"/>
            <a:ext cx="369918" cy="369918"/>
            <a:chOff x="6705600" y="1371600"/>
            <a:chExt cx="10972800" cy="1097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173018A-81E0-7819-230E-015AD938522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76AAEECA-6F6D-EF51-2573-F1BA123CACB7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5879109"/>
            <a:ext cx="369918" cy="369918"/>
            <a:chOff x="6705600" y="1371600"/>
            <a:chExt cx="10972800" cy="1097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17A4C6C-7600-B913-5C79-1A20B74BD0F9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73D1C8E0-25A5-26A5-E4BB-3BFEDDC56010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7655469"/>
            <a:ext cx="369918" cy="369918"/>
            <a:chOff x="6705600" y="1371600"/>
            <a:chExt cx="10972800" cy="1097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EE30EC7-79F7-353E-A264-39468EA1EDB8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3372735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839</Words>
  <Application>Microsoft Office PowerPoint</Application>
  <PresentationFormat>Personalizado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HK Grotesk Light</vt:lpstr>
      <vt:lpstr>Calibri</vt:lpstr>
      <vt:lpstr>Arial</vt:lpstr>
      <vt:lpstr>HK Grotesk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Azul y Blanco Moderno Tecnología Presentación de Porfolio</dc:title>
  <cp:lastModifiedBy>Cesar Augusto Vega Fernandez</cp:lastModifiedBy>
  <cp:revision>21</cp:revision>
  <dcterms:created xsi:type="dcterms:W3CDTF">2006-08-16T00:00:00Z</dcterms:created>
  <dcterms:modified xsi:type="dcterms:W3CDTF">2025-08-16T02:40:29Z</dcterms:modified>
  <dc:identifier>DAGwAYnLhB4</dc:identifier>
</cp:coreProperties>
</file>